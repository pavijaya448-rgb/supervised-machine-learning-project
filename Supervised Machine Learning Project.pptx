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Maragsa" charset="1" panose="00000000000000000000"/>
      <p:regular r:id="rId26"/>
    </p:embeddedFont>
    <p:embeddedFont>
      <p:font typeface="Arial" charset="1" panose="020B0604020202020204"/>
      <p:regular r:id="rId27"/>
    </p:embeddedFont>
    <p:embeddedFont>
      <p:font typeface="Arial Bold" charset="1" panose="020B070402020202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TextBox 2" id="2"/>
          <p:cNvSpPr txBox="true"/>
          <p:nvPr/>
        </p:nvSpPr>
        <p:spPr>
          <a:xfrm rot="0">
            <a:off x="1451122" y="3084782"/>
            <a:ext cx="16237135" cy="3152689"/>
          </a:xfrm>
          <a:prstGeom prst="rect">
            <a:avLst/>
          </a:prstGeom>
        </p:spPr>
        <p:txBody>
          <a:bodyPr anchor="t" rtlCol="false" tIns="0" lIns="0" bIns="0" rIns="0">
            <a:spAutoFit/>
          </a:bodyPr>
          <a:lstStyle/>
          <a:p>
            <a:pPr algn="ctr">
              <a:lnSpc>
                <a:spcPts val="12599"/>
              </a:lnSpc>
              <a:spcBef>
                <a:spcPct val="0"/>
              </a:spcBef>
            </a:pPr>
            <a:r>
              <a:rPr lang="en-US" sz="9000">
                <a:solidFill>
                  <a:srgbClr val="424242"/>
                </a:solidFill>
                <a:latin typeface="Maragsa"/>
                <a:ea typeface="Maragsa"/>
                <a:cs typeface="Maragsa"/>
                <a:sym typeface="Maragsa"/>
              </a:rPr>
              <a:t>SUPERVISED MACHINE LEARNING PROJECT</a:t>
            </a:r>
          </a:p>
        </p:txBody>
      </p:sp>
      <p:sp>
        <p:nvSpPr>
          <p:cNvPr name="Freeform 3" id="3"/>
          <p:cNvSpPr/>
          <p:nvPr/>
        </p:nvSpPr>
        <p:spPr>
          <a:xfrm flipH="false" flipV="false" rot="0">
            <a:off x="-1032959" y="-2455521"/>
            <a:ext cx="5049982" cy="6172200"/>
          </a:xfrm>
          <a:custGeom>
            <a:avLst/>
            <a:gdLst/>
            <a:ahLst/>
            <a:cxnLst/>
            <a:rect r="r" b="b" t="t" l="l"/>
            <a:pathLst>
              <a:path h="6172200" w="5049982">
                <a:moveTo>
                  <a:pt x="0" y="0"/>
                </a:moveTo>
                <a:lnTo>
                  <a:pt x="5049982" y="0"/>
                </a:lnTo>
                <a:lnTo>
                  <a:pt x="5049982" y="6172200"/>
                </a:lnTo>
                <a:lnTo>
                  <a:pt x="0" y="61722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030195" y="709036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9569689" y="7642772"/>
            <a:ext cx="2479651" cy="431822"/>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Arial"/>
                <a:ea typeface="Arial"/>
                <a:cs typeface="Arial"/>
                <a:sym typeface="Arial"/>
              </a:rPr>
              <a:t>Presented By :</a:t>
            </a:r>
          </a:p>
        </p:txBody>
      </p:sp>
      <p:sp>
        <p:nvSpPr>
          <p:cNvPr name="TextBox 7" id="7"/>
          <p:cNvSpPr txBox="true"/>
          <p:nvPr/>
        </p:nvSpPr>
        <p:spPr>
          <a:xfrm rot="0">
            <a:off x="11290061" y="8341321"/>
            <a:ext cx="4904444" cy="1308164"/>
          </a:xfrm>
          <a:prstGeom prst="rect">
            <a:avLst/>
          </a:prstGeom>
        </p:spPr>
        <p:txBody>
          <a:bodyPr anchor="t" rtlCol="false" tIns="0" lIns="0" bIns="0" rIns="0">
            <a:spAutoFit/>
          </a:bodyPr>
          <a:lstStyle/>
          <a:p>
            <a:pPr algn="l">
              <a:lnSpc>
                <a:spcPts val="3499"/>
              </a:lnSpc>
            </a:pPr>
            <a:r>
              <a:rPr lang="en-US" sz="2499">
                <a:solidFill>
                  <a:srgbClr val="000000"/>
                </a:solidFill>
                <a:latin typeface="Arial"/>
                <a:ea typeface="Arial"/>
                <a:cs typeface="Arial"/>
                <a:sym typeface="Arial"/>
              </a:rPr>
              <a:t>Name   : M.Pavithra</a:t>
            </a:r>
          </a:p>
          <a:p>
            <a:pPr algn="l">
              <a:lnSpc>
                <a:spcPts val="3499"/>
              </a:lnSpc>
            </a:pPr>
            <a:r>
              <a:rPr lang="en-US" sz="2499">
                <a:solidFill>
                  <a:srgbClr val="000000"/>
                </a:solidFill>
                <a:latin typeface="Arial"/>
                <a:ea typeface="Arial"/>
                <a:cs typeface="Arial"/>
                <a:sym typeface="Arial"/>
              </a:rPr>
              <a:t>Course : DADS July A Cohort</a:t>
            </a:r>
          </a:p>
          <a:p>
            <a:pPr algn="l">
              <a:lnSpc>
                <a:spcPts val="3499"/>
              </a:lnSpc>
              <a:spcBef>
                <a:spcPct val="0"/>
              </a:spcBef>
            </a:pPr>
            <a:r>
              <a:rPr lang="en-US" sz="2499">
                <a:solidFill>
                  <a:srgbClr val="000000"/>
                </a:solidFill>
                <a:latin typeface="Arial"/>
                <a:ea typeface="Arial"/>
                <a:cs typeface="Arial"/>
                <a:sym typeface="Arial"/>
              </a:rPr>
              <a:t>Date     : 11/11/2025</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4EB"/>
        </a:solidFill>
      </p:bgPr>
    </p:bg>
    <p:spTree>
      <p:nvGrpSpPr>
        <p:cNvPr id="1" name=""/>
        <p:cNvGrpSpPr/>
        <p:nvPr/>
      </p:nvGrpSpPr>
      <p:grpSpPr>
        <a:xfrm>
          <a:off x="0" y="0"/>
          <a:ext cx="0" cy="0"/>
          <a:chOff x="0" y="0"/>
          <a:chExt cx="0" cy="0"/>
        </a:xfrm>
      </p:grpSpPr>
      <p:sp>
        <p:nvSpPr>
          <p:cNvPr name="TextBox 2" id="2"/>
          <p:cNvSpPr txBox="true"/>
          <p:nvPr/>
        </p:nvSpPr>
        <p:spPr>
          <a:xfrm rot="0">
            <a:off x="6031586" y="596900"/>
            <a:ext cx="6224827"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INTRODUCTION</a:t>
            </a:r>
          </a:p>
        </p:txBody>
      </p:sp>
      <p:sp>
        <p:nvSpPr>
          <p:cNvPr name="TextBox 3" id="3"/>
          <p:cNvSpPr txBox="true"/>
          <p:nvPr/>
        </p:nvSpPr>
        <p:spPr>
          <a:xfrm rot="0">
            <a:off x="1806795" y="7954501"/>
            <a:ext cx="3149160" cy="679394"/>
          </a:xfrm>
          <a:prstGeom prst="rect">
            <a:avLst/>
          </a:prstGeom>
        </p:spPr>
        <p:txBody>
          <a:bodyPr anchor="t" rtlCol="false" tIns="0" lIns="0" bIns="0" rIns="0">
            <a:spAutoFit/>
          </a:bodyPr>
          <a:lstStyle/>
          <a:p>
            <a:pPr algn="ctr">
              <a:lnSpc>
                <a:spcPts val="5599"/>
              </a:lnSpc>
              <a:spcBef>
                <a:spcPct val="0"/>
              </a:spcBef>
            </a:pPr>
            <a:r>
              <a:rPr lang="en-US" sz="3999">
                <a:solidFill>
                  <a:srgbClr val="F8F4EB"/>
                </a:solidFill>
                <a:latin typeface="Maragsa"/>
                <a:ea typeface="Maragsa"/>
                <a:cs typeface="Maragsa"/>
                <a:sym typeface="Maragsa"/>
              </a:rPr>
              <a:t>Lars Peeters</a:t>
            </a:r>
          </a:p>
        </p:txBody>
      </p:sp>
      <p:sp>
        <p:nvSpPr>
          <p:cNvPr name="TextBox 4" id="4"/>
          <p:cNvSpPr txBox="true"/>
          <p:nvPr/>
        </p:nvSpPr>
        <p:spPr>
          <a:xfrm rot="0">
            <a:off x="7886081" y="7954501"/>
            <a:ext cx="2515313" cy="679394"/>
          </a:xfrm>
          <a:prstGeom prst="rect">
            <a:avLst/>
          </a:prstGeom>
        </p:spPr>
        <p:txBody>
          <a:bodyPr anchor="t" rtlCol="false" tIns="0" lIns="0" bIns="0" rIns="0">
            <a:spAutoFit/>
          </a:bodyPr>
          <a:lstStyle/>
          <a:p>
            <a:pPr algn="ctr">
              <a:lnSpc>
                <a:spcPts val="5599"/>
              </a:lnSpc>
              <a:spcBef>
                <a:spcPct val="0"/>
              </a:spcBef>
            </a:pPr>
            <a:r>
              <a:rPr lang="en-US" sz="3999">
                <a:solidFill>
                  <a:srgbClr val="F8F4EB"/>
                </a:solidFill>
                <a:latin typeface="Maragsa"/>
                <a:ea typeface="Maragsa"/>
                <a:cs typeface="Maragsa"/>
                <a:sym typeface="Maragsa"/>
              </a:rPr>
              <a:t>Teddy Yu</a:t>
            </a:r>
          </a:p>
        </p:txBody>
      </p:sp>
      <p:sp>
        <p:nvSpPr>
          <p:cNvPr name="TextBox 5" id="5"/>
          <p:cNvSpPr txBox="true"/>
          <p:nvPr/>
        </p:nvSpPr>
        <p:spPr>
          <a:xfrm rot="0">
            <a:off x="13685420" y="7954501"/>
            <a:ext cx="2441883" cy="679394"/>
          </a:xfrm>
          <a:prstGeom prst="rect">
            <a:avLst/>
          </a:prstGeom>
        </p:spPr>
        <p:txBody>
          <a:bodyPr anchor="t" rtlCol="false" tIns="0" lIns="0" bIns="0" rIns="0">
            <a:spAutoFit/>
          </a:bodyPr>
          <a:lstStyle/>
          <a:p>
            <a:pPr algn="ctr">
              <a:lnSpc>
                <a:spcPts val="5599"/>
              </a:lnSpc>
              <a:spcBef>
                <a:spcPct val="0"/>
              </a:spcBef>
            </a:pPr>
            <a:r>
              <a:rPr lang="en-US" sz="3999">
                <a:solidFill>
                  <a:srgbClr val="F8F4EB"/>
                </a:solidFill>
                <a:latin typeface="Maragsa"/>
                <a:ea typeface="Maragsa"/>
                <a:cs typeface="Maragsa"/>
                <a:sym typeface="Maragsa"/>
              </a:rPr>
              <a:t>Chidi Eze</a:t>
            </a:r>
          </a:p>
        </p:txBody>
      </p:sp>
      <p:sp>
        <p:nvSpPr>
          <p:cNvPr name="TextBox 6" id="6"/>
          <p:cNvSpPr txBox="true"/>
          <p:nvPr/>
        </p:nvSpPr>
        <p:spPr>
          <a:xfrm rot="0">
            <a:off x="1493603" y="2107746"/>
            <a:ext cx="15300793" cy="2085975"/>
          </a:xfrm>
          <a:prstGeom prst="rect">
            <a:avLst/>
          </a:prstGeom>
        </p:spPr>
        <p:txBody>
          <a:bodyPr anchor="t" rtlCol="false" tIns="0" lIns="0" bIns="0" rIns="0">
            <a:spAutoFit/>
          </a:bodyPr>
          <a:lstStyle/>
          <a:p>
            <a:pPr algn="just">
              <a:lnSpc>
                <a:spcPts val="4199"/>
              </a:lnSpc>
            </a:pPr>
            <a:r>
              <a:rPr lang="en-US" sz="2999">
                <a:solidFill>
                  <a:srgbClr val="000000"/>
                </a:solidFill>
                <a:latin typeface="Arial"/>
                <a:ea typeface="Arial"/>
                <a:cs typeface="Arial"/>
                <a:sym typeface="Arial"/>
              </a:rPr>
              <a:t>The project uses the Telco Customer Churn dataset to explore key factors such as tenure, contract type, monthly charges, and internet services that influence customer decisions. By applying machine learning techniques, the project aims to predict whether a customer will churn and provide insights to help the company develop effective retention strategies.</a:t>
            </a:r>
          </a:p>
        </p:txBody>
      </p:sp>
      <p:sp>
        <p:nvSpPr>
          <p:cNvPr name="TextBox 7" id="7"/>
          <p:cNvSpPr txBox="true"/>
          <p:nvPr/>
        </p:nvSpPr>
        <p:spPr>
          <a:xfrm rot="0">
            <a:off x="1989708" y="6168564"/>
            <a:ext cx="14731210" cy="3657600"/>
          </a:xfrm>
          <a:prstGeom prst="rect">
            <a:avLst/>
          </a:prstGeom>
        </p:spPr>
        <p:txBody>
          <a:bodyPr anchor="t" rtlCol="false" tIns="0" lIns="0" bIns="0" rIns="0">
            <a:spAutoFit/>
          </a:bodyPr>
          <a:lstStyle/>
          <a:p>
            <a:pPr algn="just" marL="647697" indent="-323848" lvl="1">
              <a:lnSpc>
                <a:spcPts val="4199"/>
              </a:lnSpc>
              <a:buFont typeface="Arial"/>
              <a:buChar char="•"/>
            </a:pPr>
            <a:r>
              <a:rPr lang="en-US" sz="2999">
                <a:solidFill>
                  <a:srgbClr val="000000"/>
                </a:solidFill>
                <a:latin typeface="Arial"/>
                <a:ea typeface="Arial"/>
                <a:cs typeface="Arial"/>
                <a:sym typeface="Arial"/>
              </a:rPr>
              <a:t>To load, understand, clean and preprocessing the dataset.</a:t>
            </a:r>
          </a:p>
          <a:p>
            <a:pPr algn="just" marL="647697" indent="-323848" lvl="1">
              <a:lnSpc>
                <a:spcPts val="4199"/>
              </a:lnSpc>
              <a:buFont typeface="Arial"/>
              <a:buChar char="•"/>
            </a:pPr>
            <a:r>
              <a:rPr lang="en-US" sz="2999">
                <a:solidFill>
                  <a:srgbClr val="000000"/>
                </a:solidFill>
                <a:latin typeface="Arial"/>
                <a:ea typeface="Arial"/>
                <a:cs typeface="Arial"/>
                <a:sym typeface="Arial"/>
              </a:rPr>
              <a:t>To analyze patterns in customer behavior using data visualization.</a:t>
            </a:r>
          </a:p>
          <a:p>
            <a:pPr algn="just" marL="647697" indent="-323848" lvl="1">
              <a:lnSpc>
                <a:spcPts val="4199"/>
              </a:lnSpc>
              <a:buFont typeface="Arial"/>
              <a:buChar char="•"/>
            </a:pPr>
            <a:r>
              <a:rPr lang="en-US" sz="2999">
                <a:solidFill>
                  <a:srgbClr val="000000"/>
                </a:solidFill>
                <a:latin typeface="Arial"/>
                <a:ea typeface="Arial"/>
                <a:cs typeface="Arial"/>
                <a:sym typeface="Arial"/>
              </a:rPr>
              <a:t>To predict whether a customer will churn or stay using machine learning.</a:t>
            </a:r>
          </a:p>
          <a:p>
            <a:pPr algn="just" marL="647697" indent="-323848" lvl="1">
              <a:lnSpc>
                <a:spcPts val="4199"/>
              </a:lnSpc>
              <a:buFont typeface="Arial"/>
              <a:buChar char="•"/>
            </a:pPr>
            <a:r>
              <a:rPr lang="en-US" sz="2999">
                <a:solidFill>
                  <a:srgbClr val="000000"/>
                </a:solidFill>
                <a:latin typeface="Arial"/>
                <a:ea typeface="Arial"/>
                <a:cs typeface="Arial"/>
                <a:sym typeface="Arial"/>
              </a:rPr>
              <a:t>To compare different models and select the one with the best accuracy.</a:t>
            </a:r>
          </a:p>
          <a:p>
            <a:pPr algn="just" marL="647697" indent="-323848" lvl="1">
              <a:lnSpc>
                <a:spcPts val="4199"/>
              </a:lnSpc>
              <a:buFont typeface="Arial"/>
              <a:buChar char="•"/>
            </a:pPr>
            <a:r>
              <a:rPr lang="en-US" sz="2999">
                <a:solidFill>
                  <a:srgbClr val="000000"/>
                </a:solidFill>
                <a:latin typeface="Arial"/>
                <a:ea typeface="Arial"/>
                <a:cs typeface="Arial"/>
                <a:sym typeface="Arial"/>
              </a:rPr>
              <a:t>To save and load the best model as a .pkl file.</a:t>
            </a:r>
          </a:p>
          <a:p>
            <a:pPr algn="just" marL="647697" indent="-323848" lvl="1">
              <a:lnSpc>
                <a:spcPts val="4199"/>
              </a:lnSpc>
              <a:buFont typeface="Arial"/>
              <a:buChar char="•"/>
            </a:pPr>
            <a:r>
              <a:rPr lang="en-US" sz="2999">
                <a:solidFill>
                  <a:srgbClr val="000000"/>
                </a:solidFill>
                <a:latin typeface="Arial"/>
                <a:ea typeface="Arial"/>
                <a:cs typeface="Arial"/>
                <a:sym typeface="Arial"/>
              </a:rPr>
              <a:t>To deploy the best model using Streamlit for live churn prediction.</a:t>
            </a:r>
          </a:p>
          <a:p>
            <a:pPr algn="just" marL="647697" indent="-323848" lvl="1">
              <a:lnSpc>
                <a:spcPts val="4199"/>
              </a:lnSpc>
              <a:buFont typeface="Arial"/>
              <a:buChar char="•"/>
            </a:pPr>
            <a:r>
              <a:rPr lang="en-US" sz="2999">
                <a:solidFill>
                  <a:srgbClr val="000000"/>
                </a:solidFill>
                <a:latin typeface="Arial"/>
                <a:ea typeface="Arial"/>
                <a:cs typeface="Arial"/>
                <a:sym typeface="Arial"/>
              </a:rPr>
              <a:t>To help the telecom company improve customer retention and reduce revenue loss.</a:t>
            </a:r>
          </a:p>
        </p:txBody>
      </p:sp>
      <p:sp>
        <p:nvSpPr>
          <p:cNvPr name="TextBox 8" id="8"/>
          <p:cNvSpPr txBox="true"/>
          <p:nvPr/>
        </p:nvSpPr>
        <p:spPr>
          <a:xfrm rot="0">
            <a:off x="6031586" y="4550905"/>
            <a:ext cx="6224827"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PROJECT  GOALS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910909" y="365125"/>
            <a:ext cx="8612218"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PROBLEM  STATEMENT</a:t>
            </a:r>
          </a:p>
        </p:txBody>
      </p:sp>
      <p:sp>
        <p:nvSpPr>
          <p:cNvPr name="TextBox 5" id="5"/>
          <p:cNvSpPr txBox="true"/>
          <p:nvPr/>
        </p:nvSpPr>
        <p:spPr>
          <a:xfrm rot="0">
            <a:off x="1101718" y="1747837"/>
            <a:ext cx="16084565" cy="2609850"/>
          </a:xfrm>
          <a:prstGeom prst="rect">
            <a:avLst/>
          </a:prstGeom>
        </p:spPr>
        <p:txBody>
          <a:bodyPr anchor="t" rtlCol="false" tIns="0" lIns="0" bIns="0" rIns="0">
            <a:spAutoFit/>
          </a:bodyPr>
          <a:lstStyle/>
          <a:p>
            <a:pPr algn="just">
              <a:lnSpc>
                <a:spcPts val="4199"/>
              </a:lnSpc>
            </a:pPr>
            <a:r>
              <a:rPr lang="en-US" sz="2999">
                <a:solidFill>
                  <a:srgbClr val="000000"/>
                </a:solidFill>
                <a:latin typeface="Arial"/>
                <a:ea typeface="Arial"/>
                <a:cs typeface="Arial"/>
                <a:sym typeface="Arial"/>
              </a:rPr>
              <a:t>Customer churn is a major challenge in the telecommunications industry, directly impacting revenue and business growth. This project aims to analyze customer data to identify the key factors influencing churn and to develop a machine learning model capable of predicting whether a customer is likely to leave the company. The insights gained from this analysis will support the development of effective strategies to reduce churn and enhance customer loyalty.</a:t>
            </a:r>
          </a:p>
        </p:txBody>
      </p:sp>
      <p:sp>
        <p:nvSpPr>
          <p:cNvPr name="TextBox 6" id="6"/>
          <p:cNvSpPr txBox="true"/>
          <p:nvPr/>
        </p:nvSpPr>
        <p:spPr>
          <a:xfrm rot="0">
            <a:off x="4837891" y="4479925"/>
            <a:ext cx="8612218"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PROJECT  OBJECTIVE</a:t>
            </a:r>
          </a:p>
        </p:txBody>
      </p:sp>
      <p:sp>
        <p:nvSpPr>
          <p:cNvPr name="TextBox 7" id="7"/>
          <p:cNvSpPr txBox="true"/>
          <p:nvPr/>
        </p:nvSpPr>
        <p:spPr>
          <a:xfrm rot="0">
            <a:off x="758357" y="5749925"/>
            <a:ext cx="16500943" cy="4181475"/>
          </a:xfrm>
          <a:prstGeom prst="rect">
            <a:avLst/>
          </a:prstGeom>
        </p:spPr>
        <p:txBody>
          <a:bodyPr anchor="t" rtlCol="false" tIns="0" lIns="0" bIns="0" rIns="0">
            <a:spAutoFit/>
          </a:bodyPr>
          <a:lstStyle/>
          <a:p>
            <a:pPr algn="just" marL="647697" indent="-323848" lvl="1">
              <a:lnSpc>
                <a:spcPts val="4199"/>
              </a:lnSpc>
              <a:buFont typeface="Arial"/>
              <a:buChar char="•"/>
            </a:pPr>
            <a:r>
              <a:rPr lang="en-US" sz="2999">
                <a:solidFill>
                  <a:srgbClr val="000000"/>
                </a:solidFill>
                <a:latin typeface="Arial"/>
                <a:ea typeface="Arial"/>
                <a:cs typeface="Arial"/>
                <a:sym typeface="Arial"/>
              </a:rPr>
              <a:t>This project focuses on predicting customer churn in a telecom company using the Telco Customer Churn dataset.</a:t>
            </a:r>
          </a:p>
          <a:p>
            <a:pPr algn="just" marL="647697" indent="-323848" lvl="1">
              <a:lnSpc>
                <a:spcPts val="4199"/>
              </a:lnSpc>
              <a:buFont typeface="Arial"/>
              <a:buChar char="•"/>
            </a:pPr>
            <a:r>
              <a:rPr lang="en-US" sz="2999">
                <a:solidFill>
                  <a:srgbClr val="000000"/>
                </a:solidFill>
                <a:latin typeface="Arial"/>
                <a:ea typeface="Arial"/>
                <a:cs typeface="Arial"/>
                <a:sym typeface="Arial"/>
              </a:rPr>
              <a:t>It involves data cleaning, exploratory data analysis, and the application of machine learning models such as Logistic Regression, SVM, KNN, Decision Tree, and Random Forest.</a:t>
            </a:r>
          </a:p>
          <a:p>
            <a:pPr algn="just" marL="647697" indent="-323848" lvl="1">
              <a:lnSpc>
                <a:spcPts val="4199"/>
              </a:lnSpc>
              <a:buFont typeface="Arial"/>
              <a:buChar char="•"/>
            </a:pPr>
            <a:r>
              <a:rPr lang="en-US" sz="2999">
                <a:solidFill>
                  <a:srgbClr val="000000"/>
                </a:solidFill>
                <a:latin typeface="Arial"/>
                <a:ea typeface="Arial"/>
                <a:cs typeface="Arial"/>
                <a:sym typeface="Arial"/>
              </a:rPr>
              <a:t>The goal is to identify the key factors influencing churn and build a model that accurately predicts whether a customer will stay or leave.</a:t>
            </a:r>
          </a:p>
          <a:p>
            <a:pPr algn="just" marL="647697" indent="-323848" lvl="1">
              <a:lnSpc>
                <a:spcPts val="4199"/>
              </a:lnSpc>
              <a:buFont typeface="Arial"/>
              <a:buChar char="•"/>
            </a:pPr>
            <a:r>
              <a:rPr lang="en-US" sz="2999">
                <a:solidFill>
                  <a:srgbClr val="000000"/>
                </a:solidFill>
                <a:latin typeface="Arial"/>
                <a:ea typeface="Arial"/>
                <a:cs typeface="Arial"/>
                <a:sym typeface="Arial"/>
              </a:rPr>
              <a:t>The insights gained will help the company improve customer retention and reduce revenue loss.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274918" y="3635726"/>
            <a:ext cx="6472047" cy="3015549"/>
          </a:xfrm>
          <a:custGeom>
            <a:avLst/>
            <a:gdLst/>
            <a:ahLst/>
            <a:cxnLst/>
            <a:rect r="r" b="b" t="t" l="l"/>
            <a:pathLst>
              <a:path h="3015549" w="6472047">
                <a:moveTo>
                  <a:pt x="0" y="0"/>
                </a:moveTo>
                <a:lnTo>
                  <a:pt x="6472047" y="0"/>
                </a:lnTo>
                <a:lnTo>
                  <a:pt x="6472047" y="3015548"/>
                </a:lnTo>
                <a:lnTo>
                  <a:pt x="0" y="3015548"/>
                </a:lnTo>
                <a:lnTo>
                  <a:pt x="0" y="0"/>
                </a:lnTo>
                <a:close/>
              </a:path>
            </a:pathLst>
          </a:custGeom>
          <a:blipFill>
            <a:blip r:embed="rId4"/>
            <a:stretch>
              <a:fillRect l="-71424" t="-276206" r="-390509" b="-264501"/>
            </a:stretch>
          </a:blipFill>
        </p:spPr>
      </p:sp>
      <p:sp>
        <p:nvSpPr>
          <p:cNvPr name="TextBox 5" id="5"/>
          <p:cNvSpPr txBox="true"/>
          <p:nvPr/>
        </p:nvSpPr>
        <p:spPr>
          <a:xfrm rot="0">
            <a:off x="4539894" y="684081"/>
            <a:ext cx="9910340"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IMPORTING  &amp;  LOADING </a:t>
            </a:r>
          </a:p>
        </p:txBody>
      </p:sp>
      <p:sp>
        <p:nvSpPr>
          <p:cNvPr name="TextBox 6" id="6"/>
          <p:cNvSpPr txBox="true"/>
          <p:nvPr/>
        </p:nvSpPr>
        <p:spPr>
          <a:xfrm rot="0">
            <a:off x="1322058" y="3265685"/>
            <a:ext cx="9398014" cy="3133725"/>
          </a:xfrm>
          <a:prstGeom prst="rect">
            <a:avLst/>
          </a:prstGeom>
        </p:spPr>
        <p:txBody>
          <a:bodyPr anchor="t" rtlCol="false" tIns="0" lIns="0" bIns="0" rIns="0">
            <a:spAutoFit/>
          </a:bodyPr>
          <a:lstStyle/>
          <a:p>
            <a:pPr algn="just" marL="647697" indent="-323848" lvl="1">
              <a:lnSpc>
                <a:spcPts val="4199"/>
              </a:lnSpc>
              <a:buFont typeface="Arial"/>
              <a:buChar char="•"/>
            </a:pPr>
            <a:r>
              <a:rPr lang="en-US" sz="2999">
                <a:solidFill>
                  <a:srgbClr val="000000"/>
                </a:solidFill>
                <a:latin typeface="Arial"/>
                <a:ea typeface="Arial"/>
                <a:cs typeface="Arial"/>
                <a:sym typeface="Arial"/>
              </a:rPr>
              <a:t>pandas for Handles and analyzes data in tables (DataFrames).</a:t>
            </a:r>
          </a:p>
          <a:p>
            <a:pPr algn="just" marL="647697" indent="-323848" lvl="1">
              <a:lnSpc>
                <a:spcPts val="4199"/>
              </a:lnSpc>
              <a:buFont typeface="Arial"/>
              <a:buChar char="•"/>
            </a:pPr>
            <a:r>
              <a:rPr lang="en-US" sz="2999">
                <a:solidFill>
                  <a:srgbClr val="000000"/>
                </a:solidFill>
                <a:latin typeface="Arial"/>
                <a:ea typeface="Arial"/>
                <a:cs typeface="Arial"/>
                <a:sym typeface="Arial"/>
              </a:rPr>
              <a:t>numpy for math operations on arrays and matrices.</a:t>
            </a:r>
          </a:p>
          <a:p>
            <a:pPr algn="just" marL="647697" indent="-323848" lvl="1">
              <a:lnSpc>
                <a:spcPts val="4199"/>
              </a:lnSpc>
              <a:buFont typeface="Arial"/>
              <a:buChar char="•"/>
            </a:pPr>
            <a:r>
              <a:rPr lang="en-US" sz="2999">
                <a:solidFill>
                  <a:srgbClr val="000000"/>
                </a:solidFill>
                <a:latin typeface="Arial"/>
                <a:ea typeface="Arial"/>
                <a:cs typeface="Arial"/>
                <a:sym typeface="Arial"/>
              </a:rPr>
              <a:t>matplotlib.pyplot for creating basic plots and charts.</a:t>
            </a:r>
          </a:p>
          <a:p>
            <a:pPr algn="just" marL="647697" indent="-323848" lvl="1">
              <a:lnSpc>
                <a:spcPts val="4199"/>
              </a:lnSpc>
              <a:buFont typeface="Arial"/>
              <a:buChar char="•"/>
            </a:pPr>
            <a:r>
              <a:rPr lang="en-US" sz="2999">
                <a:solidFill>
                  <a:srgbClr val="000000"/>
                </a:solidFill>
                <a:latin typeface="Arial"/>
                <a:ea typeface="Arial"/>
                <a:cs typeface="Arial"/>
                <a:sym typeface="Arial"/>
              </a:rPr>
              <a:t>seaborn to make attractive statistical plots easily.</a:t>
            </a:r>
          </a:p>
          <a:p>
            <a:pPr algn="just" marL="647697" indent="-323848" lvl="1">
              <a:lnSpc>
                <a:spcPts val="4199"/>
              </a:lnSpc>
              <a:buFont typeface="Arial"/>
              <a:buChar char="•"/>
            </a:pPr>
            <a:r>
              <a:rPr lang="en-US" sz="2999">
                <a:solidFill>
                  <a:srgbClr val="000000"/>
                </a:solidFill>
                <a:latin typeface="Arial"/>
                <a:ea typeface="Arial"/>
                <a:cs typeface="Arial"/>
                <a:sym typeface="Arial"/>
              </a:rPr>
              <a:t>warnings to hide unnecessary warning messages.</a:t>
            </a:r>
          </a:p>
        </p:txBody>
      </p:sp>
      <p:sp>
        <p:nvSpPr>
          <p:cNvPr name="Freeform 7" id="7"/>
          <p:cNvSpPr/>
          <p:nvPr/>
        </p:nvSpPr>
        <p:spPr>
          <a:xfrm flipH="false" flipV="false" rot="0">
            <a:off x="1688987" y="8926798"/>
            <a:ext cx="14710484" cy="663005"/>
          </a:xfrm>
          <a:custGeom>
            <a:avLst/>
            <a:gdLst/>
            <a:ahLst/>
            <a:cxnLst/>
            <a:rect r="r" b="b" t="t" l="l"/>
            <a:pathLst>
              <a:path h="663005" w="14710484">
                <a:moveTo>
                  <a:pt x="0" y="0"/>
                </a:moveTo>
                <a:lnTo>
                  <a:pt x="14710484" y="0"/>
                </a:lnTo>
                <a:lnTo>
                  <a:pt x="14710484" y="663004"/>
                </a:lnTo>
                <a:lnTo>
                  <a:pt x="0" y="663004"/>
                </a:lnTo>
                <a:lnTo>
                  <a:pt x="0" y="0"/>
                </a:lnTo>
                <a:close/>
              </a:path>
            </a:pathLst>
          </a:custGeom>
          <a:blipFill>
            <a:blip r:embed="rId4"/>
            <a:stretch>
              <a:fillRect l="-32912" t="-2021492" r="-121923" b="-882299"/>
            </a:stretch>
          </a:blipFill>
        </p:spPr>
      </p:sp>
      <p:sp>
        <p:nvSpPr>
          <p:cNvPr name="TextBox 8" id="8"/>
          <p:cNvSpPr txBox="true"/>
          <p:nvPr/>
        </p:nvSpPr>
        <p:spPr>
          <a:xfrm rot="0">
            <a:off x="1322058" y="2314608"/>
            <a:ext cx="10034829" cy="514350"/>
          </a:xfrm>
          <a:prstGeom prst="rect">
            <a:avLst/>
          </a:prstGeom>
        </p:spPr>
        <p:txBody>
          <a:bodyPr anchor="t" rtlCol="false" tIns="0" lIns="0" bIns="0" rIns="0">
            <a:spAutoFit/>
          </a:bodyPr>
          <a:lstStyle/>
          <a:p>
            <a:pPr algn="just">
              <a:lnSpc>
                <a:spcPts val="4199"/>
              </a:lnSpc>
            </a:pPr>
            <a:r>
              <a:rPr lang="en-US" sz="2999" b="true">
                <a:solidFill>
                  <a:srgbClr val="000000"/>
                </a:solidFill>
                <a:latin typeface="Arial Bold"/>
                <a:ea typeface="Arial Bold"/>
                <a:cs typeface="Arial Bold"/>
                <a:sym typeface="Arial Bold"/>
              </a:rPr>
              <a:t>Imported Libraries to analyze and visualize the trends</a:t>
            </a:r>
          </a:p>
        </p:txBody>
      </p:sp>
      <p:sp>
        <p:nvSpPr>
          <p:cNvPr name="TextBox 9" id="9"/>
          <p:cNvSpPr txBox="true"/>
          <p:nvPr/>
        </p:nvSpPr>
        <p:spPr>
          <a:xfrm rot="0">
            <a:off x="1322058" y="8004663"/>
            <a:ext cx="9716422" cy="514350"/>
          </a:xfrm>
          <a:prstGeom prst="rect">
            <a:avLst/>
          </a:prstGeom>
        </p:spPr>
        <p:txBody>
          <a:bodyPr anchor="t" rtlCol="false" tIns="0" lIns="0" bIns="0" rIns="0">
            <a:spAutoFit/>
          </a:bodyPr>
          <a:lstStyle/>
          <a:p>
            <a:pPr algn="just" marL="647697" indent="-323848" lvl="1">
              <a:lnSpc>
                <a:spcPts val="4199"/>
              </a:lnSpc>
              <a:buFont typeface="Arial"/>
              <a:buChar char="•"/>
            </a:pPr>
            <a:r>
              <a:rPr lang="en-US" sz="2999">
                <a:solidFill>
                  <a:srgbClr val="000000"/>
                </a:solidFill>
                <a:latin typeface="Arial"/>
                <a:ea typeface="Arial"/>
                <a:cs typeface="Arial"/>
                <a:sym typeface="Arial"/>
              </a:rPr>
              <a:t>Loaded csv dataset using the command pd.read_csv.</a:t>
            </a:r>
          </a:p>
        </p:txBody>
      </p:sp>
      <p:sp>
        <p:nvSpPr>
          <p:cNvPr name="TextBox 10" id="10"/>
          <p:cNvSpPr txBox="true"/>
          <p:nvPr/>
        </p:nvSpPr>
        <p:spPr>
          <a:xfrm rot="0">
            <a:off x="1322058" y="7122441"/>
            <a:ext cx="10034829" cy="514350"/>
          </a:xfrm>
          <a:prstGeom prst="rect">
            <a:avLst/>
          </a:prstGeom>
        </p:spPr>
        <p:txBody>
          <a:bodyPr anchor="t" rtlCol="false" tIns="0" lIns="0" bIns="0" rIns="0">
            <a:spAutoFit/>
          </a:bodyPr>
          <a:lstStyle/>
          <a:p>
            <a:pPr algn="just">
              <a:lnSpc>
                <a:spcPts val="4199"/>
              </a:lnSpc>
            </a:pPr>
            <a:r>
              <a:rPr lang="en-US" sz="2999" b="true">
                <a:solidFill>
                  <a:srgbClr val="000000"/>
                </a:solidFill>
                <a:latin typeface="Arial Bold"/>
                <a:ea typeface="Arial Bold"/>
                <a:cs typeface="Arial Bold"/>
                <a:sym typeface="Arial Bold"/>
              </a:rPr>
              <a:t>Loading Dataset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893169" y="3176664"/>
            <a:ext cx="9523216" cy="5402083"/>
          </a:xfrm>
          <a:custGeom>
            <a:avLst/>
            <a:gdLst/>
            <a:ahLst/>
            <a:cxnLst/>
            <a:rect r="r" b="b" t="t" l="l"/>
            <a:pathLst>
              <a:path h="5402083" w="9523216">
                <a:moveTo>
                  <a:pt x="0" y="0"/>
                </a:moveTo>
                <a:lnTo>
                  <a:pt x="9523216" y="0"/>
                </a:lnTo>
                <a:lnTo>
                  <a:pt x="9523216" y="5402083"/>
                </a:lnTo>
                <a:lnTo>
                  <a:pt x="0" y="5402083"/>
                </a:lnTo>
                <a:lnTo>
                  <a:pt x="0" y="0"/>
                </a:lnTo>
                <a:close/>
              </a:path>
            </a:pathLst>
          </a:custGeom>
          <a:blipFill>
            <a:blip r:embed="rId4"/>
            <a:stretch>
              <a:fillRect l="-19548" t="-74506" r="-80336" b="-12691"/>
            </a:stretch>
          </a:blipFill>
        </p:spPr>
      </p:sp>
      <p:sp>
        <p:nvSpPr>
          <p:cNvPr name="TextBox 5" id="5"/>
          <p:cNvSpPr txBox="true"/>
          <p:nvPr/>
        </p:nvSpPr>
        <p:spPr>
          <a:xfrm rot="0">
            <a:off x="4188830" y="365125"/>
            <a:ext cx="9910340"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DATA  UNDERSTANDING</a:t>
            </a:r>
          </a:p>
        </p:txBody>
      </p:sp>
      <p:sp>
        <p:nvSpPr>
          <p:cNvPr name="TextBox 6" id="6"/>
          <p:cNvSpPr txBox="true"/>
          <p:nvPr/>
        </p:nvSpPr>
        <p:spPr>
          <a:xfrm rot="0">
            <a:off x="1162950" y="1811206"/>
            <a:ext cx="15962100" cy="1038225"/>
          </a:xfrm>
          <a:prstGeom prst="rect">
            <a:avLst/>
          </a:prstGeom>
        </p:spPr>
        <p:txBody>
          <a:bodyPr anchor="t" rtlCol="false" tIns="0" lIns="0" bIns="0" rIns="0">
            <a:spAutoFit/>
          </a:bodyPr>
          <a:lstStyle/>
          <a:p>
            <a:pPr algn="just">
              <a:lnSpc>
                <a:spcPts val="4199"/>
              </a:lnSpc>
            </a:pPr>
            <a:r>
              <a:rPr lang="en-US" sz="2999">
                <a:solidFill>
                  <a:srgbClr val="000000"/>
                </a:solidFill>
                <a:latin typeface="Arial"/>
                <a:ea typeface="Arial"/>
                <a:cs typeface="Arial"/>
                <a:sym typeface="Arial"/>
              </a:rPr>
              <a:t>Data Understanding involves exploring the Telco Customer Churn dataset to get familiar with its structure, variables, and contents.</a:t>
            </a:r>
          </a:p>
        </p:txBody>
      </p:sp>
      <p:sp>
        <p:nvSpPr>
          <p:cNvPr name="TextBox 7" id="7"/>
          <p:cNvSpPr txBox="true"/>
          <p:nvPr/>
        </p:nvSpPr>
        <p:spPr>
          <a:xfrm rot="0">
            <a:off x="1028700" y="8705850"/>
            <a:ext cx="16387685" cy="1038225"/>
          </a:xfrm>
          <a:prstGeom prst="rect">
            <a:avLst/>
          </a:prstGeom>
        </p:spPr>
        <p:txBody>
          <a:bodyPr anchor="t" rtlCol="false" tIns="0" lIns="0" bIns="0" rIns="0">
            <a:spAutoFit/>
          </a:bodyPr>
          <a:lstStyle/>
          <a:p>
            <a:pPr algn="just">
              <a:lnSpc>
                <a:spcPts val="4199"/>
              </a:lnSpc>
            </a:pPr>
            <a:r>
              <a:rPr lang="en-US" sz="2999" b="true">
                <a:solidFill>
                  <a:srgbClr val="000000"/>
                </a:solidFill>
                <a:latin typeface="Arial Bold"/>
                <a:ea typeface="Arial Bold"/>
                <a:cs typeface="Arial Bold"/>
                <a:sym typeface="Arial Bold"/>
              </a:rPr>
              <a:t>Key Features : </a:t>
            </a:r>
          </a:p>
          <a:p>
            <a:pPr algn="l">
              <a:lnSpc>
                <a:spcPts val="4199"/>
              </a:lnSpc>
            </a:pPr>
            <a:r>
              <a:rPr lang="en-US" sz="2999">
                <a:solidFill>
                  <a:srgbClr val="000000"/>
                </a:solidFill>
                <a:latin typeface="Arial"/>
                <a:ea typeface="Arial"/>
                <a:cs typeface="Arial"/>
                <a:sym typeface="Arial"/>
              </a:rPr>
              <a:t>gender, tenure, TechSupport, Contract, PaymentMethod, MonthlyCharges, TotalCharges, Churn</a:t>
            </a:r>
          </a:p>
        </p:txBody>
      </p:sp>
      <p:sp>
        <p:nvSpPr>
          <p:cNvPr name="TextBox 8" id="8"/>
          <p:cNvSpPr txBox="true"/>
          <p:nvPr/>
        </p:nvSpPr>
        <p:spPr>
          <a:xfrm rot="0">
            <a:off x="1028700" y="7224178"/>
            <a:ext cx="6180205" cy="1038225"/>
          </a:xfrm>
          <a:prstGeom prst="rect">
            <a:avLst/>
          </a:prstGeom>
        </p:spPr>
        <p:txBody>
          <a:bodyPr anchor="t" rtlCol="false" tIns="0" lIns="0" bIns="0" rIns="0">
            <a:spAutoFit/>
          </a:bodyPr>
          <a:lstStyle/>
          <a:p>
            <a:pPr algn="just">
              <a:lnSpc>
                <a:spcPts val="4199"/>
              </a:lnSpc>
            </a:pPr>
            <a:r>
              <a:rPr lang="en-US" sz="2999" b="true">
                <a:solidFill>
                  <a:srgbClr val="000000"/>
                </a:solidFill>
                <a:latin typeface="Arial Bold"/>
                <a:ea typeface="Arial Bold"/>
                <a:cs typeface="Arial Bold"/>
                <a:sym typeface="Arial Bold"/>
              </a:rPr>
              <a:t>Dataset Overview : </a:t>
            </a:r>
          </a:p>
          <a:p>
            <a:pPr algn="ctr">
              <a:lnSpc>
                <a:spcPts val="4199"/>
              </a:lnSpc>
            </a:pPr>
            <a:r>
              <a:rPr lang="en-US" sz="2999">
                <a:solidFill>
                  <a:srgbClr val="000000"/>
                </a:solidFill>
                <a:latin typeface="Arial"/>
                <a:ea typeface="Arial"/>
                <a:cs typeface="Arial"/>
                <a:sym typeface="Arial"/>
              </a:rPr>
              <a:t>Rows : 7043  &amp;  </a:t>
            </a:r>
            <a:r>
              <a:rPr lang="en-US" sz="2999">
                <a:solidFill>
                  <a:srgbClr val="000000"/>
                </a:solidFill>
                <a:latin typeface="Arial"/>
                <a:ea typeface="Arial"/>
                <a:cs typeface="Arial"/>
                <a:sym typeface="Arial"/>
              </a:rPr>
              <a:t>Columns : 21</a:t>
            </a:r>
          </a:p>
        </p:txBody>
      </p:sp>
      <p:sp>
        <p:nvSpPr>
          <p:cNvPr name="TextBox 9" id="9"/>
          <p:cNvSpPr txBox="true"/>
          <p:nvPr/>
        </p:nvSpPr>
        <p:spPr>
          <a:xfrm rot="0">
            <a:off x="1168755" y="3100464"/>
            <a:ext cx="6040149" cy="3680267"/>
          </a:xfrm>
          <a:prstGeom prst="rect">
            <a:avLst/>
          </a:prstGeom>
        </p:spPr>
        <p:txBody>
          <a:bodyPr anchor="t" rtlCol="false" tIns="0" lIns="0" bIns="0" rIns="0">
            <a:spAutoFit/>
          </a:bodyPr>
          <a:lstStyle/>
          <a:p>
            <a:pPr algn="just">
              <a:lnSpc>
                <a:spcPts val="3815"/>
              </a:lnSpc>
            </a:pPr>
            <a:r>
              <a:rPr lang="en-US" sz="2725" b="true">
                <a:solidFill>
                  <a:srgbClr val="000000"/>
                </a:solidFill>
                <a:latin typeface="Arial Bold"/>
                <a:ea typeface="Arial Bold"/>
                <a:cs typeface="Arial Bold"/>
                <a:sym typeface="Arial Bold"/>
              </a:rPr>
              <a:t>Checked : </a:t>
            </a:r>
          </a:p>
          <a:p>
            <a:pPr algn="just" marL="647700" indent="-323850" lvl="1">
              <a:lnSpc>
                <a:spcPts val="4200"/>
              </a:lnSpc>
              <a:buFont typeface="Arial"/>
              <a:buChar char="•"/>
            </a:pPr>
            <a:r>
              <a:rPr lang="en-US" sz="3000">
                <a:solidFill>
                  <a:srgbClr val="000000"/>
                </a:solidFill>
                <a:latin typeface="Arial"/>
                <a:ea typeface="Arial"/>
                <a:cs typeface="Arial"/>
                <a:sym typeface="Arial"/>
              </a:rPr>
              <a:t>shape for shape of the dataset</a:t>
            </a:r>
          </a:p>
          <a:p>
            <a:pPr algn="just" marL="647700" indent="-323850" lvl="1">
              <a:lnSpc>
                <a:spcPts val="4200"/>
              </a:lnSpc>
              <a:buFont typeface="Arial"/>
              <a:buChar char="•"/>
            </a:pPr>
            <a:r>
              <a:rPr lang="en-US" sz="3000">
                <a:solidFill>
                  <a:srgbClr val="000000"/>
                </a:solidFill>
                <a:latin typeface="Arial"/>
                <a:ea typeface="Arial"/>
                <a:cs typeface="Arial"/>
                <a:sym typeface="Arial"/>
              </a:rPr>
              <a:t>columns for column names</a:t>
            </a:r>
          </a:p>
          <a:p>
            <a:pPr algn="just" marL="647700" indent="-323850" lvl="1">
              <a:lnSpc>
                <a:spcPts val="4200"/>
              </a:lnSpc>
              <a:buFont typeface="Arial"/>
              <a:buChar char="•"/>
            </a:pPr>
            <a:r>
              <a:rPr lang="en-US" sz="3000">
                <a:solidFill>
                  <a:srgbClr val="000000"/>
                </a:solidFill>
                <a:latin typeface="Arial"/>
                <a:ea typeface="Arial"/>
                <a:cs typeface="Arial"/>
                <a:sym typeface="Arial"/>
              </a:rPr>
              <a:t>isnull() for missing values</a:t>
            </a:r>
          </a:p>
          <a:p>
            <a:pPr algn="just" marL="647700" indent="-323850" lvl="1">
              <a:lnSpc>
                <a:spcPts val="4200"/>
              </a:lnSpc>
              <a:buFont typeface="Arial"/>
              <a:buChar char="•"/>
            </a:pPr>
            <a:r>
              <a:rPr lang="en-US" sz="3000">
                <a:solidFill>
                  <a:srgbClr val="000000"/>
                </a:solidFill>
                <a:latin typeface="Arial"/>
                <a:ea typeface="Arial"/>
                <a:cs typeface="Arial"/>
                <a:sym typeface="Arial"/>
              </a:rPr>
              <a:t>info() for quick overview of data</a:t>
            </a:r>
          </a:p>
          <a:p>
            <a:pPr algn="just" marL="647700" indent="-323850" lvl="1">
              <a:lnSpc>
                <a:spcPts val="4200"/>
              </a:lnSpc>
              <a:buFont typeface="Arial"/>
              <a:buChar char="•"/>
            </a:pPr>
            <a:r>
              <a:rPr lang="en-US" sz="3000">
                <a:solidFill>
                  <a:srgbClr val="000000"/>
                </a:solidFill>
                <a:latin typeface="Arial"/>
                <a:ea typeface="Arial"/>
                <a:cs typeface="Arial"/>
                <a:sym typeface="Arial"/>
              </a:rPr>
              <a:t>head() for first five rows</a:t>
            </a:r>
          </a:p>
          <a:p>
            <a:pPr algn="just" marL="647700" indent="-323850" lvl="1">
              <a:lnSpc>
                <a:spcPts val="4200"/>
              </a:lnSpc>
              <a:buFont typeface="Arial"/>
              <a:buChar char="•"/>
            </a:pPr>
            <a:r>
              <a:rPr lang="en-US" sz="3000">
                <a:solidFill>
                  <a:srgbClr val="000000"/>
                </a:solidFill>
                <a:latin typeface="Arial"/>
                <a:ea typeface="Arial"/>
                <a:cs typeface="Arial"/>
                <a:sym typeface="Arial"/>
              </a:rPr>
              <a:t>tail() for last five rows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866591" y="365125"/>
            <a:ext cx="6554818"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DATA  CLEANING</a:t>
            </a:r>
          </a:p>
        </p:txBody>
      </p:sp>
      <p:sp>
        <p:nvSpPr>
          <p:cNvPr name="TextBox 5" id="5"/>
          <p:cNvSpPr txBox="true"/>
          <p:nvPr/>
        </p:nvSpPr>
        <p:spPr>
          <a:xfrm rot="0">
            <a:off x="1542178" y="7584083"/>
            <a:ext cx="8923036" cy="1562100"/>
          </a:xfrm>
          <a:prstGeom prst="rect">
            <a:avLst/>
          </a:prstGeom>
        </p:spPr>
        <p:txBody>
          <a:bodyPr anchor="t" rtlCol="false" tIns="0" lIns="0" bIns="0" rIns="0">
            <a:spAutoFit/>
          </a:bodyPr>
          <a:lstStyle/>
          <a:p>
            <a:pPr algn="just" marL="647697" indent="-323848" lvl="1">
              <a:lnSpc>
                <a:spcPts val="4199"/>
              </a:lnSpc>
              <a:buFont typeface="Arial"/>
              <a:buChar char="•"/>
            </a:pPr>
            <a:r>
              <a:rPr lang="en-US" b="true" sz="2999">
                <a:solidFill>
                  <a:srgbClr val="000000"/>
                </a:solidFill>
                <a:latin typeface="Arial Bold"/>
                <a:ea typeface="Arial Bold"/>
                <a:cs typeface="Arial Bold"/>
                <a:sym typeface="Arial Bold"/>
              </a:rPr>
              <a:t>Before cleaning               After cleaning</a:t>
            </a:r>
          </a:p>
          <a:p>
            <a:pPr algn="just">
              <a:lnSpc>
                <a:spcPts val="4199"/>
              </a:lnSpc>
            </a:pPr>
            <a:r>
              <a:rPr lang="en-US" sz="2999" b="true">
                <a:solidFill>
                  <a:srgbClr val="000000"/>
                </a:solidFill>
                <a:latin typeface="Arial Bold"/>
                <a:ea typeface="Arial Bold"/>
                <a:cs typeface="Arial Bold"/>
                <a:sym typeface="Arial Bold"/>
              </a:rPr>
              <a:t>       </a:t>
            </a:r>
            <a:r>
              <a:rPr lang="en-US" sz="2999">
                <a:solidFill>
                  <a:srgbClr val="000000"/>
                </a:solidFill>
                <a:latin typeface="Arial"/>
                <a:ea typeface="Arial"/>
                <a:cs typeface="Arial"/>
                <a:sym typeface="Arial"/>
              </a:rPr>
              <a:t>Rows      - 7043                Rows      - 7043</a:t>
            </a:r>
          </a:p>
          <a:p>
            <a:pPr algn="just">
              <a:lnSpc>
                <a:spcPts val="4199"/>
              </a:lnSpc>
            </a:pPr>
            <a:r>
              <a:rPr lang="en-US" sz="2999">
                <a:solidFill>
                  <a:srgbClr val="000000"/>
                </a:solidFill>
                <a:latin typeface="Arial"/>
                <a:ea typeface="Arial"/>
                <a:cs typeface="Arial"/>
                <a:sym typeface="Arial"/>
              </a:rPr>
              <a:t>       </a:t>
            </a:r>
            <a:r>
              <a:rPr lang="en-US" sz="2999">
                <a:solidFill>
                  <a:srgbClr val="000000"/>
                </a:solidFill>
                <a:latin typeface="Arial"/>
                <a:ea typeface="Arial"/>
                <a:cs typeface="Arial"/>
                <a:sym typeface="Arial"/>
              </a:rPr>
              <a:t>Columns - 21                    Columns - 11</a:t>
            </a:r>
          </a:p>
        </p:txBody>
      </p:sp>
      <p:sp>
        <p:nvSpPr>
          <p:cNvPr name="TextBox 6" id="6"/>
          <p:cNvSpPr txBox="true"/>
          <p:nvPr/>
        </p:nvSpPr>
        <p:spPr>
          <a:xfrm rot="0">
            <a:off x="1542178" y="2705003"/>
            <a:ext cx="15203643" cy="4800793"/>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Arial"/>
                <a:ea typeface="Arial"/>
                <a:cs typeface="Arial"/>
                <a:sym typeface="Arial"/>
              </a:rPr>
              <a:t>Checked for duplicate values using </a:t>
            </a:r>
            <a:r>
              <a:rPr lang="en-US" b="true" sz="3000">
                <a:solidFill>
                  <a:srgbClr val="000000"/>
                </a:solidFill>
                <a:latin typeface="Arial Bold"/>
                <a:ea typeface="Arial Bold"/>
                <a:cs typeface="Arial Bold"/>
                <a:sym typeface="Arial Bold"/>
              </a:rPr>
              <a:t>dropduplicates</a:t>
            </a:r>
            <a:r>
              <a:rPr lang="en-US" sz="3000">
                <a:solidFill>
                  <a:srgbClr val="000000"/>
                </a:solidFill>
                <a:latin typeface="Arial"/>
                <a:ea typeface="Arial"/>
                <a:cs typeface="Arial"/>
                <a:sym typeface="Arial"/>
              </a:rPr>
              <a:t> command and there were no duplicates in the dataset.</a:t>
            </a:r>
          </a:p>
          <a:p>
            <a:pPr algn="just" marL="647700" indent="-323850" lvl="1">
              <a:lnSpc>
                <a:spcPts val="4200"/>
              </a:lnSpc>
              <a:buFont typeface="Arial"/>
              <a:buChar char="•"/>
            </a:pPr>
            <a:r>
              <a:rPr lang="en-US" sz="3000">
                <a:solidFill>
                  <a:srgbClr val="000000"/>
                </a:solidFill>
                <a:latin typeface="Arial"/>
                <a:ea typeface="Arial"/>
                <a:cs typeface="Arial"/>
                <a:sym typeface="Arial"/>
              </a:rPr>
              <a:t>Dropped unwanted features for better analysis.</a:t>
            </a:r>
          </a:p>
          <a:p>
            <a:pPr algn="just" marL="647700" indent="-323850" lvl="1">
              <a:lnSpc>
                <a:spcPts val="4200"/>
              </a:lnSpc>
              <a:buFont typeface="Arial"/>
              <a:buChar char="•"/>
            </a:pPr>
            <a:r>
              <a:rPr lang="en-US" sz="3000">
                <a:solidFill>
                  <a:srgbClr val="000000"/>
                </a:solidFill>
                <a:latin typeface="Arial"/>
                <a:ea typeface="Arial"/>
                <a:cs typeface="Arial"/>
                <a:sym typeface="Arial"/>
              </a:rPr>
              <a:t>Changed appropriate datatypes (TotalCharges to </a:t>
            </a:r>
            <a:r>
              <a:rPr lang="en-US" b="true" sz="3000">
                <a:solidFill>
                  <a:srgbClr val="000000"/>
                </a:solidFill>
                <a:latin typeface="Arial Bold"/>
                <a:ea typeface="Arial Bold"/>
                <a:cs typeface="Arial Bold"/>
                <a:sym typeface="Arial Bold"/>
              </a:rPr>
              <a:t>‘numeric’</a:t>
            </a:r>
            <a:r>
              <a:rPr lang="en-US" sz="3000">
                <a:solidFill>
                  <a:srgbClr val="000000"/>
                </a:solidFill>
                <a:latin typeface="Arial"/>
                <a:ea typeface="Arial"/>
                <a:cs typeface="Arial"/>
                <a:sym typeface="Arial"/>
              </a:rPr>
              <a:t> and all other object features to ‘</a:t>
            </a:r>
            <a:r>
              <a:rPr lang="en-US" b="true" sz="3000">
                <a:solidFill>
                  <a:srgbClr val="000000"/>
                </a:solidFill>
                <a:latin typeface="Arial Bold"/>
                <a:ea typeface="Arial Bold"/>
                <a:cs typeface="Arial Bold"/>
                <a:sym typeface="Arial Bold"/>
              </a:rPr>
              <a:t>category’</a:t>
            </a:r>
            <a:r>
              <a:rPr lang="en-US" sz="3000">
                <a:solidFill>
                  <a:srgbClr val="000000"/>
                </a:solidFill>
                <a:latin typeface="Arial"/>
                <a:ea typeface="Arial"/>
                <a:cs typeface="Arial"/>
                <a:sym typeface="Arial"/>
              </a:rPr>
              <a:t> data types).</a:t>
            </a:r>
          </a:p>
          <a:p>
            <a:pPr algn="just" marL="647700" indent="-323850" lvl="1">
              <a:lnSpc>
                <a:spcPts val="4200"/>
              </a:lnSpc>
              <a:buFont typeface="Arial"/>
              <a:buChar char="•"/>
            </a:pPr>
            <a:r>
              <a:rPr lang="en-US" sz="3000">
                <a:solidFill>
                  <a:srgbClr val="000000"/>
                </a:solidFill>
                <a:latin typeface="Arial"/>
                <a:ea typeface="Arial"/>
                <a:cs typeface="Arial"/>
                <a:sym typeface="Arial"/>
              </a:rPr>
              <a:t>Handled missing values for TotalCharges using </a:t>
            </a:r>
            <a:r>
              <a:rPr lang="en-US" b="true" sz="3000">
                <a:solidFill>
                  <a:srgbClr val="000000"/>
                </a:solidFill>
                <a:latin typeface="Arial Bold"/>
                <a:ea typeface="Arial Bold"/>
                <a:cs typeface="Arial Bold"/>
                <a:sym typeface="Arial Bold"/>
              </a:rPr>
              <a:t>Median</a:t>
            </a:r>
            <a:r>
              <a:rPr lang="en-US" sz="3000">
                <a:solidFill>
                  <a:srgbClr val="000000"/>
                </a:solidFill>
                <a:latin typeface="Arial"/>
                <a:ea typeface="Arial"/>
                <a:cs typeface="Arial"/>
                <a:sym typeface="Arial"/>
              </a:rPr>
              <a:t> values.</a:t>
            </a:r>
          </a:p>
          <a:p>
            <a:pPr algn="just" marL="647700" indent="-323850" lvl="1">
              <a:lnSpc>
                <a:spcPts val="4200"/>
              </a:lnSpc>
              <a:buFont typeface="Arial"/>
              <a:buChar char="•"/>
            </a:pPr>
            <a:r>
              <a:rPr lang="en-US" sz="3000">
                <a:solidFill>
                  <a:srgbClr val="000000"/>
                </a:solidFill>
                <a:latin typeface="Arial"/>
                <a:ea typeface="Arial"/>
                <a:cs typeface="Arial"/>
                <a:sym typeface="Arial"/>
              </a:rPr>
              <a:t>Described features like tenure, MonthlyCharges and TotalCharges.</a:t>
            </a:r>
          </a:p>
          <a:p>
            <a:pPr algn="just" marL="647700" indent="-323850" lvl="1">
              <a:lnSpc>
                <a:spcPts val="4200"/>
              </a:lnSpc>
              <a:buFont typeface="Arial"/>
              <a:buChar char="•"/>
            </a:pPr>
            <a:r>
              <a:rPr lang="en-US" sz="3000">
                <a:solidFill>
                  <a:srgbClr val="000000"/>
                </a:solidFill>
                <a:latin typeface="Arial"/>
                <a:ea typeface="Arial"/>
                <a:cs typeface="Arial"/>
                <a:sym typeface="Arial"/>
              </a:rPr>
              <a:t>Checked for outliers by using Boxplot in the numeric features and there were no outliers in my dataset.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037666" y="365125"/>
            <a:ext cx="12212668"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EXPLORATORY  DATA  ANALYSIS</a:t>
            </a:r>
          </a:p>
        </p:txBody>
      </p:sp>
      <p:sp>
        <p:nvSpPr>
          <p:cNvPr name="TextBox 5" id="5"/>
          <p:cNvSpPr txBox="true"/>
          <p:nvPr/>
        </p:nvSpPr>
        <p:spPr>
          <a:xfrm rot="0">
            <a:off x="1529932" y="2051659"/>
            <a:ext cx="15228136" cy="1066843"/>
          </a:xfrm>
          <a:prstGeom prst="rect">
            <a:avLst/>
          </a:prstGeom>
        </p:spPr>
        <p:txBody>
          <a:bodyPr anchor="t" rtlCol="false" tIns="0" lIns="0" bIns="0" rIns="0">
            <a:spAutoFit/>
          </a:bodyPr>
          <a:lstStyle/>
          <a:p>
            <a:pPr algn="just">
              <a:lnSpc>
                <a:spcPts val="4200"/>
              </a:lnSpc>
            </a:pPr>
            <a:r>
              <a:rPr lang="en-US" sz="3000">
                <a:solidFill>
                  <a:srgbClr val="000000"/>
                </a:solidFill>
                <a:latin typeface="Arial"/>
                <a:ea typeface="Arial"/>
                <a:cs typeface="Arial"/>
                <a:sym typeface="Arial"/>
              </a:rPr>
              <a:t>Visualized data in EDA as UNIVARITE, BIVARIATE &amp; MULTIVARIATE for analyzing the Churn behaviour and patterns across tenure, TotalCharges, etc.</a:t>
            </a:r>
          </a:p>
        </p:txBody>
      </p:sp>
      <p:sp>
        <p:nvSpPr>
          <p:cNvPr name="TextBox 6" id="6"/>
          <p:cNvSpPr txBox="true"/>
          <p:nvPr/>
        </p:nvSpPr>
        <p:spPr>
          <a:xfrm rot="0">
            <a:off x="1621938" y="3611235"/>
            <a:ext cx="15044125" cy="5867636"/>
          </a:xfrm>
          <a:prstGeom prst="rect">
            <a:avLst/>
          </a:prstGeom>
        </p:spPr>
        <p:txBody>
          <a:bodyPr anchor="t" rtlCol="false" tIns="0" lIns="0" bIns="0" rIns="0">
            <a:spAutoFit/>
          </a:bodyPr>
          <a:lstStyle/>
          <a:p>
            <a:pPr algn="just">
              <a:lnSpc>
                <a:spcPts val="4200"/>
              </a:lnSpc>
            </a:pPr>
            <a:r>
              <a:rPr lang="en-US" sz="3000" b="true">
                <a:solidFill>
                  <a:srgbClr val="000000"/>
                </a:solidFill>
                <a:latin typeface="Arial Bold"/>
                <a:ea typeface="Arial Bold"/>
                <a:cs typeface="Arial Bold"/>
                <a:sym typeface="Arial Bold"/>
              </a:rPr>
              <a:t>UNIVARIATE</a:t>
            </a:r>
          </a:p>
          <a:p>
            <a:pPr algn="just" marL="647700" indent="-323850" lvl="1">
              <a:lnSpc>
                <a:spcPts val="4200"/>
              </a:lnSpc>
              <a:buFont typeface="Arial"/>
              <a:buChar char="•"/>
            </a:pPr>
            <a:r>
              <a:rPr lang="en-US" sz="3000">
                <a:solidFill>
                  <a:srgbClr val="000000"/>
                </a:solidFill>
                <a:latin typeface="Arial"/>
                <a:ea typeface="Arial"/>
                <a:cs typeface="Arial"/>
                <a:sym typeface="Arial"/>
              </a:rPr>
              <a:t>Countplot for visualize Churn Distribution</a:t>
            </a:r>
          </a:p>
          <a:p>
            <a:pPr algn="just">
              <a:lnSpc>
                <a:spcPts val="4200"/>
              </a:lnSpc>
            </a:pPr>
          </a:p>
          <a:p>
            <a:pPr algn="just">
              <a:lnSpc>
                <a:spcPts val="4200"/>
              </a:lnSpc>
            </a:pPr>
            <a:r>
              <a:rPr lang="en-US" sz="3000" b="true">
                <a:solidFill>
                  <a:srgbClr val="000000"/>
                </a:solidFill>
                <a:latin typeface="Arial Bold"/>
                <a:ea typeface="Arial Bold"/>
                <a:cs typeface="Arial Bold"/>
                <a:sym typeface="Arial Bold"/>
              </a:rPr>
              <a:t>BIVARIATE</a:t>
            </a:r>
          </a:p>
          <a:p>
            <a:pPr algn="just" marL="647700" indent="-323850" lvl="1">
              <a:lnSpc>
                <a:spcPts val="4200"/>
              </a:lnSpc>
              <a:buFont typeface="Arial"/>
              <a:buChar char="•"/>
            </a:pPr>
            <a:r>
              <a:rPr lang="en-US" sz="3000">
                <a:solidFill>
                  <a:srgbClr val="000000"/>
                </a:solidFill>
                <a:latin typeface="Arial"/>
                <a:ea typeface="Arial"/>
                <a:cs typeface="Arial"/>
                <a:sym typeface="Arial"/>
              </a:rPr>
              <a:t>Barplot to analyze Churn vs Contract</a:t>
            </a:r>
          </a:p>
          <a:p>
            <a:pPr algn="just" marL="647700" indent="-323850" lvl="1">
              <a:lnSpc>
                <a:spcPts val="4200"/>
              </a:lnSpc>
              <a:buFont typeface="Arial"/>
              <a:buChar char="•"/>
            </a:pPr>
            <a:r>
              <a:rPr lang="en-US" sz="3000">
                <a:solidFill>
                  <a:srgbClr val="000000"/>
                </a:solidFill>
                <a:latin typeface="Arial"/>
                <a:ea typeface="Arial"/>
                <a:cs typeface="Arial"/>
                <a:sym typeface="Arial"/>
              </a:rPr>
              <a:t>Violinplot for Churn vs tenure</a:t>
            </a:r>
          </a:p>
          <a:p>
            <a:pPr algn="just">
              <a:lnSpc>
                <a:spcPts val="4200"/>
              </a:lnSpc>
            </a:pPr>
          </a:p>
          <a:p>
            <a:pPr algn="just">
              <a:lnSpc>
                <a:spcPts val="4200"/>
              </a:lnSpc>
            </a:pPr>
            <a:r>
              <a:rPr lang="en-US" sz="3000" b="true">
                <a:solidFill>
                  <a:srgbClr val="000000"/>
                </a:solidFill>
                <a:latin typeface="Arial Bold"/>
                <a:ea typeface="Arial Bold"/>
                <a:cs typeface="Arial Bold"/>
                <a:sym typeface="Arial Bold"/>
              </a:rPr>
              <a:t>MULTIVARIATE</a:t>
            </a:r>
          </a:p>
          <a:p>
            <a:pPr algn="just" marL="647700" indent="-323850" lvl="1">
              <a:lnSpc>
                <a:spcPts val="4200"/>
              </a:lnSpc>
              <a:buFont typeface="Arial"/>
              <a:buChar char="•"/>
            </a:pPr>
            <a:r>
              <a:rPr lang="en-US" sz="3000">
                <a:solidFill>
                  <a:srgbClr val="000000"/>
                </a:solidFill>
                <a:latin typeface="Arial"/>
                <a:ea typeface="Arial"/>
                <a:cs typeface="Arial"/>
                <a:sym typeface="Arial"/>
              </a:rPr>
              <a:t>Boxplot for analyze MonthlyCharges by Contract type and Churn</a:t>
            </a:r>
          </a:p>
          <a:p>
            <a:pPr algn="just" marL="647700" indent="-323850" lvl="1">
              <a:lnSpc>
                <a:spcPts val="4200"/>
              </a:lnSpc>
              <a:buFont typeface="Arial"/>
              <a:buChar char="•"/>
            </a:pPr>
            <a:r>
              <a:rPr lang="en-US" sz="3000">
                <a:solidFill>
                  <a:srgbClr val="000000"/>
                </a:solidFill>
                <a:latin typeface="Arial"/>
                <a:ea typeface="Arial"/>
                <a:cs typeface="Arial"/>
                <a:sym typeface="Arial"/>
              </a:rPr>
              <a:t>Correlation Heatmap for numeric features like tenure, MonthlyCharges, TotalCharges and Churn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99511" y="4750908"/>
            <a:ext cx="5460682" cy="3782015"/>
          </a:xfrm>
          <a:custGeom>
            <a:avLst/>
            <a:gdLst/>
            <a:ahLst/>
            <a:cxnLst/>
            <a:rect r="r" b="b" t="t" l="l"/>
            <a:pathLst>
              <a:path h="3782015" w="5460682">
                <a:moveTo>
                  <a:pt x="0" y="0"/>
                </a:moveTo>
                <a:lnTo>
                  <a:pt x="5460682" y="0"/>
                </a:lnTo>
                <a:lnTo>
                  <a:pt x="5460682" y="3782015"/>
                </a:lnTo>
                <a:lnTo>
                  <a:pt x="0" y="3782015"/>
                </a:lnTo>
                <a:lnTo>
                  <a:pt x="0" y="0"/>
                </a:lnTo>
                <a:close/>
              </a:path>
            </a:pathLst>
          </a:custGeom>
          <a:blipFill>
            <a:blip r:embed="rId4"/>
            <a:stretch>
              <a:fillRect l="-21575" t="-62688" r="-152853" b="-47811"/>
            </a:stretch>
          </a:blipFill>
        </p:spPr>
      </p:sp>
      <p:sp>
        <p:nvSpPr>
          <p:cNvPr name="Freeform 5" id="5"/>
          <p:cNvSpPr/>
          <p:nvPr/>
        </p:nvSpPr>
        <p:spPr>
          <a:xfrm flipH="false" flipV="false" rot="0">
            <a:off x="9863188" y="4906944"/>
            <a:ext cx="5850482" cy="3491527"/>
          </a:xfrm>
          <a:custGeom>
            <a:avLst/>
            <a:gdLst/>
            <a:ahLst/>
            <a:cxnLst/>
            <a:rect r="r" b="b" t="t" l="l"/>
            <a:pathLst>
              <a:path h="3491527" w="5850482">
                <a:moveTo>
                  <a:pt x="0" y="0"/>
                </a:moveTo>
                <a:lnTo>
                  <a:pt x="5850483" y="0"/>
                </a:lnTo>
                <a:lnTo>
                  <a:pt x="5850483" y="3491527"/>
                </a:lnTo>
                <a:lnTo>
                  <a:pt x="0" y="3491527"/>
                </a:lnTo>
                <a:lnTo>
                  <a:pt x="0" y="0"/>
                </a:lnTo>
                <a:close/>
              </a:path>
            </a:pathLst>
          </a:custGeom>
          <a:blipFill>
            <a:blip r:embed="rId5"/>
            <a:stretch>
              <a:fillRect l="-25266" t="-129051" r="-189214" b="-50892"/>
            </a:stretch>
          </a:blipFill>
        </p:spPr>
      </p:sp>
      <p:sp>
        <p:nvSpPr>
          <p:cNvPr name="Freeform 6" id="6"/>
          <p:cNvSpPr/>
          <p:nvPr/>
        </p:nvSpPr>
        <p:spPr>
          <a:xfrm flipH="false" flipV="false" rot="0">
            <a:off x="3301930" y="8815043"/>
            <a:ext cx="12088382" cy="1266575"/>
          </a:xfrm>
          <a:custGeom>
            <a:avLst/>
            <a:gdLst/>
            <a:ahLst/>
            <a:cxnLst/>
            <a:rect r="r" b="b" t="t" l="l"/>
            <a:pathLst>
              <a:path h="1266575" w="12088382">
                <a:moveTo>
                  <a:pt x="0" y="0"/>
                </a:moveTo>
                <a:lnTo>
                  <a:pt x="12088382" y="0"/>
                </a:lnTo>
                <a:lnTo>
                  <a:pt x="12088382" y="1266575"/>
                </a:lnTo>
                <a:lnTo>
                  <a:pt x="0" y="1266575"/>
                </a:lnTo>
                <a:lnTo>
                  <a:pt x="0" y="0"/>
                </a:lnTo>
                <a:close/>
              </a:path>
            </a:pathLst>
          </a:custGeom>
          <a:blipFill>
            <a:blip r:embed="rId6"/>
            <a:stretch>
              <a:fillRect l="-10312" t="-344642" r="-25632" b="-244642"/>
            </a:stretch>
          </a:blipFill>
        </p:spPr>
      </p:sp>
      <p:sp>
        <p:nvSpPr>
          <p:cNvPr name="TextBox 7" id="7"/>
          <p:cNvSpPr txBox="true"/>
          <p:nvPr/>
        </p:nvSpPr>
        <p:spPr>
          <a:xfrm rot="0">
            <a:off x="4703180" y="365125"/>
            <a:ext cx="8881640"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DATA  PREPROCESSING</a:t>
            </a:r>
          </a:p>
        </p:txBody>
      </p:sp>
      <p:sp>
        <p:nvSpPr>
          <p:cNvPr name="TextBox 8" id="8"/>
          <p:cNvSpPr txBox="true"/>
          <p:nvPr/>
        </p:nvSpPr>
        <p:spPr>
          <a:xfrm rot="0">
            <a:off x="1713943" y="1801681"/>
            <a:ext cx="15228136" cy="2667107"/>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Arial"/>
                <a:ea typeface="Arial"/>
                <a:cs typeface="Arial"/>
                <a:sym typeface="Arial"/>
              </a:rPr>
              <a:t>Encoded Categorical data types to numeric data types using LABEL ENCODING, so that machine learning models can understand and process it.</a:t>
            </a:r>
          </a:p>
          <a:p>
            <a:pPr algn="just" marL="647700" indent="-323850" lvl="1">
              <a:lnSpc>
                <a:spcPts val="4200"/>
              </a:lnSpc>
              <a:buFont typeface="Arial"/>
              <a:buChar char="•"/>
            </a:pPr>
            <a:r>
              <a:rPr lang="en-US" sz="3000">
                <a:solidFill>
                  <a:srgbClr val="000000"/>
                </a:solidFill>
                <a:latin typeface="Arial"/>
                <a:ea typeface="Arial"/>
                <a:cs typeface="Arial"/>
                <a:sym typeface="Arial"/>
              </a:rPr>
              <a:t>Standardization using Feature scaling so that no feature dominates others during model training.</a:t>
            </a:r>
          </a:p>
          <a:p>
            <a:pPr algn="just" marL="647700" indent="-323850" lvl="1">
              <a:lnSpc>
                <a:spcPts val="4200"/>
              </a:lnSpc>
              <a:buFont typeface="Arial"/>
              <a:buChar char="•"/>
            </a:pPr>
            <a:r>
              <a:rPr lang="en-US" sz="3000">
                <a:solidFill>
                  <a:srgbClr val="000000"/>
                </a:solidFill>
                <a:latin typeface="Arial"/>
                <a:ea typeface="Arial"/>
                <a:cs typeface="Arial"/>
                <a:sym typeface="Arial"/>
              </a:rPr>
              <a:t>Splitted data into 20% for testing and 80% for training to perform model evaluation.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703180" y="365125"/>
            <a:ext cx="8881640"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MODEL  EVALUATION</a:t>
            </a:r>
          </a:p>
        </p:txBody>
      </p:sp>
      <p:sp>
        <p:nvSpPr>
          <p:cNvPr name="TextBox 5" id="5"/>
          <p:cNvSpPr txBox="true"/>
          <p:nvPr/>
        </p:nvSpPr>
        <p:spPr>
          <a:xfrm rot="0">
            <a:off x="2062791" y="1845415"/>
            <a:ext cx="14162417" cy="1066843"/>
          </a:xfrm>
          <a:prstGeom prst="rect">
            <a:avLst/>
          </a:prstGeom>
        </p:spPr>
        <p:txBody>
          <a:bodyPr anchor="t" rtlCol="false" tIns="0" lIns="0" bIns="0" rIns="0">
            <a:spAutoFit/>
          </a:bodyPr>
          <a:lstStyle/>
          <a:p>
            <a:pPr algn="just">
              <a:lnSpc>
                <a:spcPts val="4200"/>
              </a:lnSpc>
            </a:pPr>
            <a:r>
              <a:rPr lang="en-US" sz="3000">
                <a:solidFill>
                  <a:srgbClr val="000000"/>
                </a:solidFill>
                <a:latin typeface="Arial"/>
                <a:ea typeface="Arial"/>
                <a:cs typeface="Arial"/>
                <a:sym typeface="Arial"/>
              </a:rPr>
              <a:t>Performed supervised machine learning classification models to predict whether a customer will churn.</a:t>
            </a:r>
          </a:p>
        </p:txBody>
      </p:sp>
      <p:sp>
        <p:nvSpPr>
          <p:cNvPr name="TextBox 6" id="6"/>
          <p:cNvSpPr txBox="true"/>
          <p:nvPr/>
        </p:nvSpPr>
        <p:spPr>
          <a:xfrm rot="0">
            <a:off x="6632023" y="3017773"/>
            <a:ext cx="5023953" cy="3822829"/>
          </a:xfrm>
          <a:prstGeom prst="rect">
            <a:avLst/>
          </a:prstGeom>
        </p:spPr>
        <p:txBody>
          <a:bodyPr anchor="t" rtlCol="false" tIns="0" lIns="0" bIns="0" rIns="0">
            <a:spAutoFit/>
          </a:bodyPr>
          <a:lstStyle/>
          <a:p>
            <a:pPr algn="just">
              <a:lnSpc>
                <a:spcPts val="4899"/>
              </a:lnSpc>
            </a:pPr>
            <a:r>
              <a:rPr lang="en-US" sz="3499" b="true">
                <a:solidFill>
                  <a:srgbClr val="000000"/>
                </a:solidFill>
                <a:latin typeface="Arial Bold"/>
                <a:ea typeface="Arial Bold"/>
                <a:cs typeface="Arial Bold"/>
                <a:sym typeface="Arial Bold"/>
              </a:rPr>
              <a:t>Models Performed :</a:t>
            </a:r>
          </a:p>
          <a:p>
            <a:pPr algn="just" marL="647700" indent="-323850" lvl="1">
              <a:lnSpc>
                <a:spcPts val="4200"/>
              </a:lnSpc>
              <a:buFont typeface="Arial"/>
              <a:buChar char="•"/>
            </a:pPr>
            <a:r>
              <a:rPr lang="en-US" sz="3000">
                <a:solidFill>
                  <a:srgbClr val="000000"/>
                </a:solidFill>
                <a:latin typeface="Arial"/>
                <a:ea typeface="Arial"/>
                <a:cs typeface="Arial"/>
                <a:sym typeface="Arial"/>
              </a:rPr>
              <a:t>Logistic Regression</a:t>
            </a:r>
          </a:p>
          <a:p>
            <a:pPr algn="just" marL="647700" indent="-323850" lvl="1">
              <a:lnSpc>
                <a:spcPts val="4200"/>
              </a:lnSpc>
              <a:buFont typeface="Arial"/>
              <a:buChar char="•"/>
            </a:pPr>
            <a:r>
              <a:rPr lang="en-US" sz="3000">
                <a:solidFill>
                  <a:srgbClr val="000000"/>
                </a:solidFill>
                <a:latin typeface="Arial"/>
                <a:ea typeface="Arial"/>
                <a:cs typeface="Arial"/>
                <a:sym typeface="Arial"/>
              </a:rPr>
              <a:t>Support Vector Machine</a:t>
            </a:r>
          </a:p>
          <a:p>
            <a:pPr algn="just" marL="647700" indent="-323850" lvl="1">
              <a:lnSpc>
                <a:spcPts val="4200"/>
              </a:lnSpc>
              <a:buFont typeface="Arial"/>
              <a:buChar char="•"/>
            </a:pPr>
            <a:r>
              <a:rPr lang="en-US" sz="3000">
                <a:solidFill>
                  <a:srgbClr val="000000"/>
                </a:solidFill>
                <a:latin typeface="Arial"/>
                <a:ea typeface="Arial"/>
                <a:cs typeface="Arial"/>
                <a:sym typeface="Arial"/>
              </a:rPr>
              <a:t>K-Nearest Neighbor</a:t>
            </a:r>
          </a:p>
          <a:p>
            <a:pPr algn="just" marL="647700" indent="-323850" lvl="1">
              <a:lnSpc>
                <a:spcPts val="4200"/>
              </a:lnSpc>
              <a:buFont typeface="Arial"/>
              <a:buChar char="•"/>
            </a:pPr>
            <a:r>
              <a:rPr lang="en-US" sz="3000">
                <a:solidFill>
                  <a:srgbClr val="000000"/>
                </a:solidFill>
                <a:latin typeface="Arial"/>
                <a:ea typeface="Arial"/>
                <a:cs typeface="Arial"/>
                <a:sym typeface="Arial"/>
              </a:rPr>
              <a:t>Decision Tree </a:t>
            </a:r>
          </a:p>
          <a:p>
            <a:pPr algn="just" marL="647700" indent="-323850" lvl="1">
              <a:lnSpc>
                <a:spcPts val="4200"/>
              </a:lnSpc>
              <a:buFont typeface="Arial"/>
              <a:buChar char="•"/>
            </a:pPr>
            <a:r>
              <a:rPr lang="en-US" sz="3000">
                <a:solidFill>
                  <a:srgbClr val="000000"/>
                </a:solidFill>
                <a:latin typeface="Arial"/>
                <a:ea typeface="Arial"/>
                <a:cs typeface="Arial"/>
                <a:sym typeface="Arial"/>
              </a:rPr>
              <a:t>Random Forest </a:t>
            </a:r>
          </a:p>
          <a:p>
            <a:pPr algn="just" marL="647700" indent="-323850" lvl="1">
              <a:lnSpc>
                <a:spcPts val="4200"/>
              </a:lnSpc>
              <a:buFont typeface="Arial"/>
              <a:buChar char="•"/>
            </a:pPr>
            <a:r>
              <a:rPr lang="en-US" sz="3000">
                <a:solidFill>
                  <a:srgbClr val="000000"/>
                </a:solidFill>
                <a:latin typeface="Arial"/>
                <a:ea typeface="Arial"/>
                <a:cs typeface="Arial"/>
                <a:sym typeface="Arial"/>
              </a:rPr>
              <a:t>XG Boost</a:t>
            </a:r>
          </a:p>
        </p:txBody>
      </p:sp>
      <p:sp>
        <p:nvSpPr>
          <p:cNvPr name="TextBox 7" id="7"/>
          <p:cNvSpPr txBox="true"/>
          <p:nvPr/>
        </p:nvSpPr>
        <p:spPr>
          <a:xfrm rot="0">
            <a:off x="6632023" y="7116827"/>
            <a:ext cx="5023953" cy="2755986"/>
          </a:xfrm>
          <a:prstGeom prst="rect">
            <a:avLst/>
          </a:prstGeom>
        </p:spPr>
        <p:txBody>
          <a:bodyPr anchor="t" rtlCol="false" tIns="0" lIns="0" bIns="0" rIns="0">
            <a:spAutoFit/>
          </a:bodyPr>
          <a:lstStyle/>
          <a:p>
            <a:pPr algn="just">
              <a:lnSpc>
                <a:spcPts val="4899"/>
              </a:lnSpc>
            </a:pPr>
            <a:r>
              <a:rPr lang="en-US" sz="3499" b="true">
                <a:solidFill>
                  <a:srgbClr val="000000"/>
                </a:solidFill>
                <a:latin typeface="Arial Bold"/>
                <a:ea typeface="Arial Bold"/>
                <a:cs typeface="Arial Bold"/>
                <a:sym typeface="Arial Bold"/>
              </a:rPr>
              <a:t>Evaluation Metrics :</a:t>
            </a:r>
          </a:p>
          <a:p>
            <a:pPr algn="just" marL="647700" indent="-323850" lvl="1">
              <a:lnSpc>
                <a:spcPts val="4200"/>
              </a:lnSpc>
              <a:buFont typeface="Arial"/>
              <a:buChar char="•"/>
            </a:pPr>
            <a:r>
              <a:rPr lang="en-US" sz="3000">
                <a:solidFill>
                  <a:srgbClr val="000000"/>
                </a:solidFill>
                <a:latin typeface="Arial"/>
                <a:ea typeface="Arial"/>
                <a:cs typeface="Arial"/>
                <a:sym typeface="Arial"/>
              </a:rPr>
              <a:t>Accuracy Score</a:t>
            </a:r>
          </a:p>
          <a:p>
            <a:pPr algn="just" marL="647700" indent="-323850" lvl="1">
              <a:lnSpc>
                <a:spcPts val="4200"/>
              </a:lnSpc>
              <a:buFont typeface="Arial"/>
              <a:buChar char="•"/>
            </a:pPr>
            <a:r>
              <a:rPr lang="en-US" sz="3000">
                <a:solidFill>
                  <a:srgbClr val="000000"/>
                </a:solidFill>
                <a:latin typeface="Arial"/>
                <a:ea typeface="Arial"/>
                <a:cs typeface="Arial"/>
                <a:sym typeface="Arial"/>
              </a:rPr>
              <a:t>Classification Report</a:t>
            </a:r>
          </a:p>
          <a:p>
            <a:pPr algn="just" marL="647700" indent="-323850" lvl="1">
              <a:lnSpc>
                <a:spcPts val="4200"/>
              </a:lnSpc>
              <a:buFont typeface="Arial"/>
              <a:buChar char="•"/>
            </a:pPr>
            <a:r>
              <a:rPr lang="en-US" sz="3000">
                <a:solidFill>
                  <a:srgbClr val="000000"/>
                </a:solidFill>
                <a:latin typeface="Arial"/>
                <a:ea typeface="Arial"/>
                <a:cs typeface="Arial"/>
                <a:sym typeface="Arial"/>
              </a:rPr>
              <a:t>Confusion Matrix</a:t>
            </a:r>
          </a:p>
          <a:p>
            <a:pPr algn="just" marL="647700" indent="-323850" lvl="1">
              <a:lnSpc>
                <a:spcPts val="4200"/>
              </a:lnSpc>
              <a:buFont typeface="Arial"/>
              <a:buChar char="•"/>
            </a:pPr>
            <a:r>
              <a:rPr lang="en-US" sz="3000">
                <a:solidFill>
                  <a:srgbClr val="000000"/>
                </a:solidFill>
                <a:latin typeface="Arial"/>
                <a:ea typeface="Arial"/>
                <a:cs typeface="Arial"/>
                <a:sym typeface="Arial"/>
              </a:rPr>
              <a:t>f1 Score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84044" y="4220835"/>
            <a:ext cx="14119912" cy="5543673"/>
          </a:xfrm>
          <a:custGeom>
            <a:avLst/>
            <a:gdLst/>
            <a:ahLst/>
            <a:cxnLst/>
            <a:rect r="r" b="b" t="t" l="l"/>
            <a:pathLst>
              <a:path h="5543673" w="14119912">
                <a:moveTo>
                  <a:pt x="0" y="0"/>
                </a:moveTo>
                <a:lnTo>
                  <a:pt x="14119912" y="0"/>
                </a:lnTo>
                <a:lnTo>
                  <a:pt x="14119912" y="5543673"/>
                </a:lnTo>
                <a:lnTo>
                  <a:pt x="0" y="5543673"/>
                </a:lnTo>
                <a:lnTo>
                  <a:pt x="0" y="0"/>
                </a:lnTo>
                <a:close/>
              </a:path>
            </a:pathLst>
          </a:custGeom>
          <a:blipFill>
            <a:blip r:embed="rId4"/>
            <a:stretch>
              <a:fillRect l="-15292" t="-79088" r="-56808" b="-53783"/>
            </a:stretch>
          </a:blipFill>
        </p:spPr>
      </p:sp>
      <p:sp>
        <p:nvSpPr>
          <p:cNvPr name="TextBox 5" id="5"/>
          <p:cNvSpPr txBox="true"/>
          <p:nvPr/>
        </p:nvSpPr>
        <p:spPr>
          <a:xfrm rot="0">
            <a:off x="4703180" y="365125"/>
            <a:ext cx="8881640"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LOGISTIC  REGRESSION</a:t>
            </a:r>
          </a:p>
        </p:txBody>
      </p:sp>
      <p:sp>
        <p:nvSpPr>
          <p:cNvPr name="TextBox 6" id="6"/>
          <p:cNvSpPr txBox="true"/>
          <p:nvPr/>
        </p:nvSpPr>
        <p:spPr>
          <a:xfrm rot="0">
            <a:off x="2062791" y="2087171"/>
            <a:ext cx="14162417" cy="1600264"/>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Arial"/>
                <a:ea typeface="Arial"/>
                <a:cs typeface="Arial"/>
                <a:sym typeface="Arial"/>
              </a:rPr>
              <a:t>Estimates the probability of customer churn by establishing a decision boundary between churned and retained customers.</a:t>
            </a:r>
          </a:p>
          <a:p>
            <a:pPr algn="just" marL="647700" indent="-323850" lvl="1">
              <a:lnSpc>
                <a:spcPts val="4200"/>
              </a:lnSpc>
              <a:buFont typeface="Arial"/>
              <a:buChar char="•"/>
            </a:pPr>
            <a:r>
              <a:rPr lang="en-US" sz="3000">
                <a:solidFill>
                  <a:srgbClr val="000000"/>
                </a:solidFill>
                <a:latin typeface="Arial"/>
                <a:ea typeface="Arial"/>
                <a:cs typeface="Arial"/>
                <a:sym typeface="Arial"/>
              </a:rPr>
              <a:t>The accuracy score obtained is 0.8048.</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224297" y="3834392"/>
            <a:ext cx="13839406" cy="5924485"/>
          </a:xfrm>
          <a:custGeom>
            <a:avLst/>
            <a:gdLst/>
            <a:ahLst/>
            <a:cxnLst/>
            <a:rect r="r" b="b" t="t" l="l"/>
            <a:pathLst>
              <a:path h="5924485" w="13839406">
                <a:moveTo>
                  <a:pt x="0" y="0"/>
                </a:moveTo>
                <a:lnTo>
                  <a:pt x="13839406" y="0"/>
                </a:lnTo>
                <a:lnTo>
                  <a:pt x="13839406" y="5924485"/>
                </a:lnTo>
                <a:lnTo>
                  <a:pt x="0" y="5924485"/>
                </a:lnTo>
                <a:lnTo>
                  <a:pt x="0" y="0"/>
                </a:lnTo>
                <a:close/>
              </a:path>
            </a:pathLst>
          </a:custGeom>
          <a:blipFill>
            <a:blip r:embed="rId4"/>
            <a:stretch>
              <a:fillRect l="-17791" t="-96658" r="-80270" b="-49133"/>
            </a:stretch>
          </a:blipFill>
        </p:spPr>
      </p:sp>
      <p:sp>
        <p:nvSpPr>
          <p:cNvPr name="TextBox 5" id="5"/>
          <p:cNvSpPr txBox="true"/>
          <p:nvPr/>
        </p:nvSpPr>
        <p:spPr>
          <a:xfrm rot="0">
            <a:off x="3576509" y="365125"/>
            <a:ext cx="11134983"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SUPPORT  VECTOR  MACHINE</a:t>
            </a:r>
          </a:p>
        </p:txBody>
      </p:sp>
      <p:sp>
        <p:nvSpPr>
          <p:cNvPr name="TextBox 6" id="6"/>
          <p:cNvSpPr txBox="true"/>
          <p:nvPr/>
        </p:nvSpPr>
        <p:spPr>
          <a:xfrm rot="0">
            <a:off x="2062791" y="1801681"/>
            <a:ext cx="14162417" cy="1600264"/>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Arial"/>
                <a:ea typeface="Arial"/>
                <a:cs typeface="Arial"/>
                <a:sym typeface="Arial"/>
              </a:rPr>
              <a:t>Identifies the optimal boundary to distinguish churned customers from non-churned ones for accurate classification.</a:t>
            </a:r>
          </a:p>
          <a:p>
            <a:pPr algn="just" marL="647700" indent="-323850" lvl="1">
              <a:lnSpc>
                <a:spcPts val="4200"/>
              </a:lnSpc>
              <a:buFont typeface="Arial"/>
              <a:buChar char="•"/>
            </a:pPr>
            <a:r>
              <a:rPr lang="en-US" sz="3000">
                <a:solidFill>
                  <a:srgbClr val="000000"/>
                </a:solidFill>
                <a:latin typeface="Arial"/>
                <a:ea typeface="Arial"/>
                <a:cs typeface="Arial"/>
                <a:sym typeface="Arial"/>
              </a:rPr>
              <a:t>The accuracy score is approximately 0.8090</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301686" y="3687435"/>
            <a:ext cx="6097785" cy="6283940"/>
          </a:xfrm>
          <a:custGeom>
            <a:avLst/>
            <a:gdLst/>
            <a:ahLst/>
            <a:cxnLst/>
            <a:rect r="r" b="b" t="t" l="l"/>
            <a:pathLst>
              <a:path h="6283940" w="6097785">
                <a:moveTo>
                  <a:pt x="0" y="0"/>
                </a:moveTo>
                <a:lnTo>
                  <a:pt x="6097785" y="0"/>
                </a:lnTo>
                <a:lnTo>
                  <a:pt x="6097785" y="6283940"/>
                </a:lnTo>
                <a:lnTo>
                  <a:pt x="0" y="6283940"/>
                </a:lnTo>
                <a:lnTo>
                  <a:pt x="0" y="0"/>
                </a:lnTo>
                <a:close/>
              </a:path>
            </a:pathLst>
          </a:custGeom>
          <a:blipFill>
            <a:blip r:embed="rId4"/>
            <a:stretch>
              <a:fillRect l="-59581" t="-47761" r="-139239" b="-6284"/>
            </a:stretch>
          </a:blipFill>
        </p:spPr>
      </p:sp>
      <p:sp>
        <p:nvSpPr>
          <p:cNvPr name="Freeform 5" id="5"/>
          <p:cNvSpPr/>
          <p:nvPr/>
        </p:nvSpPr>
        <p:spPr>
          <a:xfrm flipH="false" flipV="false" rot="0">
            <a:off x="2062791" y="3687435"/>
            <a:ext cx="5783233" cy="6283940"/>
          </a:xfrm>
          <a:custGeom>
            <a:avLst/>
            <a:gdLst/>
            <a:ahLst/>
            <a:cxnLst/>
            <a:rect r="r" b="b" t="t" l="l"/>
            <a:pathLst>
              <a:path h="6283940" w="5783233">
                <a:moveTo>
                  <a:pt x="0" y="0"/>
                </a:moveTo>
                <a:lnTo>
                  <a:pt x="5783234" y="0"/>
                </a:lnTo>
                <a:lnTo>
                  <a:pt x="5783234" y="6283940"/>
                </a:lnTo>
                <a:lnTo>
                  <a:pt x="0" y="6283940"/>
                </a:lnTo>
                <a:lnTo>
                  <a:pt x="0" y="0"/>
                </a:lnTo>
                <a:close/>
              </a:path>
            </a:pathLst>
          </a:custGeom>
          <a:blipFill>
            <a:blip r:embed="rId5"/>
            <a:stretch>
              <a:fillRect l="-52906" t="-27948" r="-115354" b="-3210"/>
            </a:stretch>
          </a:blipFill>
        </p:spPr>
      </p:sp>
      <p:sp>
        <p:nvSpPr>
          <p:cNvPr name="TextBox 6" id="6"/>
          <p:cNvSpPr txBox="true"/>
          <p:nvPr/>
        </p:nvSpPr>
        <p:spPr>
          <a:xfrm rot="0">
            <a:off x="4852949" y="365125"/>
            <a:ext cx="8930625"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K- NEAREST  NEIGHBOR</a:t>
            </a:r>
          </a:p>
        </p:txBody>
      </p:sp>
      <p:sp>
        <p:nvSpPr>
          <p:cNvPr name="TextBox 7" id="7"/>
          <p:cNvSpPr txBox="true"/>
          <p:nvPr/>
        </p:nvSpPr>
        <p:spPr>
          <a:xfrm rot="0">
            <a:off x="1719891" y="1784948"/>
            <a:ext cx="14848217" cy="1600264"/>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Arial"/>
                <a:ea typeface="Arial"/>
                <a:cs typeface="Arial"/>
                <a:sym typeface="Arial"/>
              </a:rPr>
              <a:t>Predicts churn by evaluating the behavior of the most similar customers within the dataset.</a:t>
            </a:r>
          </a:p>
          <a:p>
            <a:pPr algn="just" marL="647700" indent="-323850" lvl="1">
              <a:lnSpc>
                <a:spcPts val="4200"/>
              </a:lnSpc>
              <a:buFont typeface="Arial"/>
              <a:buChar char="•"/>
            </a:pPr>
            <a:r>
              <a:rPr lang="en-US" sz="3000">
                <a:solidFill>
                  <a:srgbClr val="000000"/>
                </a:solidFill>
                <a:latin typeface="Arial"/>
                <a:ea typeface="Arial"/>
                <a:cs typeface="Arial"/>
                <a:sym typeface="Arial"/>
              </a:rPr>
              <a:t>Plotted Elbow curve to get best K optimal value and the accuracy score is 0.8055.</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480751" y="3687435"/>
            <a:ext cx="13204033" cy="5974715"/>
          </a:xfrm>
          <a:custGeom>
            <a:avLst/>
            <a:gdLst/>
            <a:ahLst/>
            <a:cxnLst/>
            <a:rect r="r" b="b" t="t" l="l"/>
            <a:pathLst>
              <a:path h="5974715" w="13204033">
                <a:moveTo>
                  <a:pt x="0" y="0"/>
                </a:moveTo>
                <a:lnTo>
                  <a:pt x="13204033" y="0"/>
                </a:lnTo>
                <a:lnTo>
                  <a:pt x="13204033" y="5974715"/>
                </a:lnTo>
                <a:lnTo>
                  <a:pt x="0" y="5974715"/>
                </a:lnTo>
                <a:lnTo>
                  <a:pt x="0" y="0"/>
                </a:lnTo>
                <a:close/>
              </a:path>
            </a:pathLst>
          </a:custGeom>
          <a:blipFill>
            <a:blip r:embed="rId4"/>
            <a:stretch>
              <a:fillRect l="-18313" t="-106799" r="-88149" b="-35599"/>
            </a:stretch>
          </a:blipFill>
        </p:spPr>
      </p:sp>
      <p:sp>
        <p:nvSpPr>
          <p:cNvPr name="TextBox 5" id="5"/>
          <p:cNvSpPr txBox="true"/>
          <p:nvPr/>
        </p:nvSpPr>
        <p:spPr>
          <a:xfrm rot="0">
            <a:off x="6285782" y="365125"/>
            <a:ext cx="6064961"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DECISION  TREE</a:t>
            </a:r>
          </a:p>
        </p:txBody>
      </p:sp>
      <p:sp>
        <p:nvSpPr>
          <p:cNvPr name="TextBox 6" id="6"/>
          <p:cNvSpPr txBox="true"/>
          <p:nvPr/>
        </p:nvSpPr>
        <p:spPr>
          <a:xfrm rot="0">
            <a:off x="2062791" y="1801681"/>
            <a:ext cx="14162417" cy="1600264"/>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Arial"/>
                <a:ea typeface="Arial"/>
                <a:cs typeface="Arial"/>
                <a:sym typeface="Arial"/>
              </a:rPr>
              <a:t>Utilizes a hierarchical structure of decision rules to predict customer churn based on feature conditions.</a:t>
            </a:r>
          </a:p>
          <a:p>
            <a:pPr algn="just" marL="647700" indent="-323850" lvl="1">
              <a:lnSpc>
                <a:spcPts val="4200"/>
              </a:lnSpc>
              <a:buFont typeface="Arial"/>
              <a:buChar char="•"/>
            </a:pPr>
            <a:r>
              <a:rPr lang="en-US" sz="3000">
                <a:solidFill>
                  <a:srgbClr val="000000"/>
                </a:solidFill>
                <a:latin typeface="Arial"/>
                <a:ea typeface="Arial"/>
                <a:cs typeface="Arial"/>
                <a:sym typeface="Arial"/>
              </a:rPr>
              <a:t>The accuracy score is approximately 0.7295.</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457688" y="3834392"/>
            <a:ext cx="13372624" cy="5732678"/>
          </a:xfrm>
          <a:custGeom>
            <a:avLst/>
            <a:gdLst/>
            <a:ahLst/>
            <a:cxnLst/>
            <a:rect r="r" b="b" t="t" l="l"/>
            <a:pathLst>
              <a:path h="5732678" w="13372624">
                <a:moveTo>
                  <a:pt x="0" y="0"/>
                </a:moveTo>
                <a:lnTo>
                  <a:pt x="13372624" y="0"/>
                </a:lnTo>
                <a:lnTo>
                  <a:pt x="13372624" y="5732678"/>
                </a:lnTo>
                <a:lnTo>
                  <a:pt x="0" y="5732678"/>
                </a:lnTo>
                <a:lnTo>
                  <a:pt x="0" y="0"/>
                </a:lnTo>
                <a:close/>
              </a:path>
            </a:pathLst>
          </a:custGeom>
          <a:blipFill>
            <a:blip r:embed="rId4"/>
            <a:stretch>
              <a:fillRect l="-18029" t="-116238" r="-84868" b="-35202"/>
            </a:stretch>
          </a:blipFill>
        </p:spPr>
      </p:sp>
      <p:sp>
        <p:nvSpPr>
          <p:cNvPr name="TextBox 5" id="5"/>
          <p:cNvSpPr txBox="true"/>
          <p:nvPr/>
        </p:nvSpPr>
        <p:spPr>
          <a:xfrm rot="0">
            <a:off x="5572677" y="365125"/>
            <a:ext cx="7142647"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RANDOM  FOREST</a:t>
            </a:r>
          </a:p>
        </p:txBody>
      </p:sp>
      <p:sp>
        <p:nvSpPr>
          <p:cNvPr name="TextBox 6" id="6"/>
          <p:cNvSpPr txBox="true"/>
          <p:nvPr/>
        </p:nvSpPr>
        <p:spPr>
          <a:xfrm rot="0">
            <a:off x="2062791" y="1870673"/>
            <a:ext cx="14162417" cy="1600264"/>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Arial"/>
                <a:ea typeface="Arial"/>
                <a:cs typeface="Arial"/>
                <a:sym typeface="Arial"/>
              </a:rPr>
              <a:t>Aggregates predictions from multiple decision trees to enhance accuracy in churn prediction.</a:t>
            </a:r>
          </a:p>
          <a:p>
            <a:pPr algn="just" marL="647700" indent="-323850" lvl="1">
              <a:lnSpc>
                <a:spcPts val="4200"/>
              </a:lnSpc>
              <a:buFont typeface="Arial"/>
              <a:buChar char="•"/>
            </a:pPr>
            <a:r>
              <a:rPr lang="en-US" sz="3000">
                <a:solidFill>
                  <a:srgbClr val="000000"/>
                </a:solidFill>
                <a:latin typeface="Arial"/>
                <a:ea typeface="Arial"/>
                <a:cs typeface="Arial"/>
                <a:sym typeface="Arial"/>
              </a:rPr>
              <a:t>The accuracy score obtained is 0.7970.</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390186" y="3881641"/>
            <a:ext cx="13507629" cy="5753535"/>
          </a:xfrm>
          <a:custGeom>
            <a:avLst/>
            <a:gdLst/>
            <a:ahLst/>
            <a:cxnLst/>
            <a:rect r="r" b="b" t="t" l="l"/>
            <a:pathLst>
              <a:path h="5753535" w="13507629">
                <a:moveTo>
                  <a:pt x="0" y="0"/>
                </a:moveTo>
                <a:lnTo>
                  <a:pt x="13507628" y="0"/>
                </a:lnTo>
                <a:lnTo>
                  <a:pt x="13507628" y="5753536"/>
                </a:lnTo>
                <a:lnTo>
                  <a:pt x="0" y="5753536"/>
                </a:lnTo>
                <a:lnTo>
                  <a:pt x="0" y="0"/>
                </a:lnTo>
                <a:close/>
              </a:path>
            </a:pathLst>
          </a:custGeom>
          <a:blipFill>
            <a:blip r:embed="rId4"/>
            <a:stretch>
              <a:fillRect l="-17690" t="-86032" r="-76660" b="-56366"/>
            </a:stretch>
          </a:blipFill>
        </p:spPr>
      </p:sp>
      <p:sp>
        <p:nvSpPr>
          <p:cNvPr name="TextBox 5" id="5"/>
          <p:cNvSpPr txBox="true"/>
          <p:nvPr/>
        </p:nvSpPr>
        <p:spPr>
          <a:xfrm rot="0">
            <a:off x="7054495" y="365125"/>
            <a:ext cx="4179011"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XG  BOOST</a:t>
            </a:r>
          </a:p>
        </p:txBody>
      </p:sp>
      <p:sp>
        <p:nvSpPr>
          <p:cNvPr name="TextBox 6" id="6"/>
          <p:cNvSpPr txBox="true"/>
          <p:nvPr/>
        </p:nvSpPr>
        <p:spPr>
          <a:xfrm rot="0">
            <a:off x="2062791" y="1833065"/>
            <a:ext cx="14162417" cy="1600264"/>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Arial"/>
                <a:ea typeface="Arial"/>
                <a:cs typeface="Arial"/>
                <a:sym typeface="Arial"/>
              </a:rPr>
              <a:t>Sequentially constructs decision trees that correct previous errors to achieve high-precision churn predictions.</a:t>
            </a:r>
          </a:p>
          <a:p>
            <a:pPr algn="just" marL="647700" indent="-323850" lvl="1">
              <a:lnSpc>
                <a:spcPts val="4200"/>
              </a:lnSpc>
              <a:buFont typeface="Arial"/>
              <a:buChar char="•"/>
            </a:pPr>
            <a:r>
              <a:rPr lang="en-US" sz="3000">
                <a:solidFill>
                  <a:srgbClr val="000000"/>
                </a:solidFill>
                <a:latin typeface="Arial"/>
                <a:ea typeface="Arial"/>
                <a:cs typeface="Arial"/>
                <a:sym typeface="Arial"/>
              </a:rPr>
              <a:t>The accuracy score is 0.7984.</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4211187"/>
            <a:ext cx="5884403" cy="5543446"/>
          </a:xfrm>
          <a:custGeom>
            <a:avLst/>
            <a:gdLst/>
            <a:ahLst/>
            <a:cxnLst/>
            <a:rect r="r" b="b" t="t" l="l"/>
            <a:pathLst>
              <a:path h="5543446" w="5884403">
                <a:moveTo>
                  <a:pt x="0" y="0"/>
                </a:moveTo>
                <a:lnTo>
                  <a:pt x="5884403" y="0"/>
                </a:lnTo>
                <a:lnTo>
                  <a:pt x="5884403" y="5543445"/>
                </a:lnTo>
                <a:lnTo>
                  <a:pt x="0" y="5543445"/>
                </a:lnTo>
                <a:lnTo>
                  <a:pt x="0" y="0"/>
                </a:lnTo>
                <a:close/>
              </a:path>
            </a:pathLst>
          </a:custGeom>
          <a:blipFill>
            <a:blip r:embed="rId4"/>
            <a:stretch>
              <a:fillRect l="-50627" t="-119095" r="-412542" b="-98490"/>
            </a:stretch>
          </a:blipFill>
        </p:spPr>
      </p:sp>
      <p:sp>
        <p:nvSpPr>
          <p:cNvPr name="Freeform 5" id="5"/>
          <p:cNvSpPr/>
          <p:nvPr/>
        </p:nvSpPr>
        <p:spPr>
          <a:xfrm flipH="false" flipV="false" rot="0">
            <a:off x="7851804" y="4159375"/>
            <a:ext cx="9407496" cy="5647069"/>
          </a:xfrm>
          <a:custGeom>
            <a:avLst/>
            <a:gdLst/>
            <a:ahLst/>
            <a:cxnLst/>
            <a:rect r="r" b="b" t="t" l="l"/>
            <a:pathLst>
              <a:path h="5647069" w="9407496">
                <a:moveTo>
                  <a:pt x="0" y="0"/>
                </a:moveTo>
                <a:lnTo>
                  <a:pt x="9407496" y="0"/>
                </a:lnTo>
                <a:lnTo>
                  <a:pt x="9407496" y="5647069"/>
                </a:lnTo>
                <a:lnTo>
                  <a:pt x="0" y="5647069"/>
                </a:lnTo>
                <a:lnTo>
                  <a:pt x="0" y="0"/>
                </a:lnTo>
                <a:close/>
              </a:path>
            </a:pathLst>
          </a:custGeom>
          <a:blipFill>
            <a:blip r:embed="rId5"/>
            <a:stretch>
              <a:fillRect l="-14980" t="-39598" r="-48076" b="-4709"/>
            </a:stretch>
          </a:blipFill>
        </p:spPr>
      </p:sp>
      <p:sp>
        <p:nvSpPr>
          <p:cNvPr name="TextBox 6" id="6"/>
          <p:cNvSpPr txBox="true"/>
          <p:nvPr/>
        </p:nvSpPr>
        <p:spPr>
          <a:xfrm rot="0">
            <a:off x="4886037" y="365125"/>
            <a:ext cx="8515926"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MODEL  COMPARISON</a:t>
            </a:r>
          </a:p>
        </p:txBody>
      </p:sp>
      <p:sp>
        <p:nvSpPr>
          <p:cNvPr name="TextBox 7" id="7"/>
          <p:cNvSpPr txBox="true"/>
          <p:nvPr/>
        </p:nvSpPr>
        <p:spPr>
          <a:xfrm rot="0">
            <a:off x="1523948" y="2287628"/>
            <a:ext cx="15240103" cy="1066843"/>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Arial"/>
                <a:ea typeface="Arial"/>
                <a:cs typeface="Arial"/>
                <a:sym typeface="Arial"/>
              </a:rPr>
              <a:t>Compared accuracy score of all six models and plotted for visualization of comparison.</a:t>
            </a:r>
          </a:p>
          <a:p>
            <a:pPr algn="just" marL="647700" indent="-323850" lvl="1">
              <a:lnSpc>
                <a:spcPts val="4200"/>
              </a:lnSpc>
              <a:buFont typeface="Arial"/>
              <a:buChar char="•"/>
            </a:pPr>
            <a:r>
              <a:rPr lang="en-US" sz="3000">
                <a:solidFill>
                  <a:srgbClr val="000000"/>
                </a:solidFill>
                <a:latin typeface="Arial"/>
                <a:ea typeface="Arial"/>
                <a:cs typeface="Arial"/>
                <a:sym typeface="Arial"/>
              </a:rPr>
              <a:t>The best accuracy score obtained in</a:t>
            </a:r>
            <a:r>
              <a:rPr lang="en-US" b="true" sz="3000">
                <a:solidFill>
                  <a:srgbClr val="000000"/>
                </a:solidFill>
                <a:latin typeface="Arial Bold"/>
                <a:ea typeface="Arial Bold"/>
                <a:cs typeface="Arial Bold"/>
                <a:sym typeface="Arial Bold"/>
              </a:rPr>
              <a:t> Support Vector Classifier </a:t>
            </a:r>
            <a:r>
              <a:rPr lang="en-US" sz="3000">
                <a:solidFill>
                  <a:srgbClr val="000000"/>
                </a:solidFill>
                <a:latin typeface="Arial"/>
                <a:ea typeface="Arial"/>
                <a:cs typeface="Arial"/>
                <a:sym typeface="Arial"/>
              </a:rPr>
              <a:t>model.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286635" y="4160851"/>
            <a:ext cx="9327511" cy="5884474"/>
          </a:xfrm>
          <a:custGeom>
            <a:avLst/>
            <a:gdLst/>
            <a:ahLst/>
            <a:cxnLst/>
            <a:rect r="r" b="b" t="t" l="l"/>
            <a:pathLst>
              <a:path h="5884474" w="9327511">
                <a:moveTo>
                  <a:pt x="0" y="0"/>
                </a:moveTo>
                <a:lnTo>
                  <a:pt x="9327511" y="0"/>
                </a:lnTo>
                <a:lnTo>
                  <a:pt x="9327511" y="5884474"/>
                </a:lnTo>
                <a:lnTo>
                  <a:pt x="0" y="5884474"/>
                </a:lnTo>
                <a:lnTo>
                  <a:pt x="0" y="0"/>
                </a:lnTo>
                <a:close/>
              </a:path>
            </a:pathLst>
          </a:custGeom>
          <a:blipFill>
            <a:blip r:embed="rId4"/>
            <a:stretch>
              <a:fillRect l="-20547" t="-36062" r="-45780" b="-3999"/>
            </a:stretch>
          </a:blipFill>
        </p:spPr>
      </p:sp>
      <p:sp>
        <p:nvSpPr>
          <p:cNvPr name="TextBox 5" id="5"/>
          <p:cNvSpPr txBox="true"/>
          <p:nvPr/>
        </p:nvSpPr>
        <p:spPr>
          <a:xfrm rot="0">
            <a:off x="3710380" y="365125"/>
            <a:ext cx="10867240"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HYPER  PARAMETER  TUNING</a:t>
            </a:r>
          </a:p>
        </p:txBody>
      </p:sp>
      <p:sp>
        <p:nvSpPr>
          <p:cNvPr name="TextBox 6" id="6"/>
          <p:cNvSpPr txBox="true"/>
          <p:nvPr/>
        </p:nvSpPr>
        <p:spPr>
          <a:xfrm rot="0">
            <a:off x="1805616" y="1754945"/>
            <a:ext cx="14676767" cy="2133686"/>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Arial"/>
                <a:ea typeface="Arial"/>
                <a:cs typeface="Arial"/>
                <a:sym typeface="Arial"/>
              </a:rPr>
              <a:t>Hyperparameter tuning is used to optimize model settings to improve customer churn prediction accuracy.</a:t>
            </a:r>
          </a:p>
          <a:p>
            <a:pPr algn="just" marL="647700" indent="-323850" lvl="1">
              <a:lnSpc>
                <a:spcPts val="4200"/>
              </a:lnSpc>
              <a:buFont typeface="Arial"/>
              <a:buChar char="•"/>
            </a:pPr>
            <a:r>
              <a:rPr lang="en-US" sz="3000">
                <a:solidFill>
                  <a:srgbClr val="000000"/>
                </a:solidFill>
                <a:latin typeface="Arial"/>
                <a:ea typeface="Arial"/>
                <a:cs typeface="Arial"/>
                <a:sym typeface="Arial"/>
              </a:rPr>
              <a:t>Performed Hyperparameter tuning for the best model SVC.</a:t>
            </a:r>
          </a:p>
          <a:p>
            <a:pPr algn="just" marL="647700" indent="-323850" lvl="1">
              <a:lnSpc>
                <a:spcPts val="4200"/>
              </a:lnSpc>
              <a:buFont typeface="Arial"/>
              <a:buChar char="•"/>
            </a:pPr>
            <a:r>
              <a:rPr lang="en-US" sz="3000">
                <a:solidFill>
                  <a:srgbClr val="000000"/>
                </a:solidFill>
                <a:latin typeface="Arial"/>
                <a:ea typeface="Arial"/>
                <a:cs typeface="Arial"/>
                <a:sym typeface="Arial"/>
              </a:rPr>
              <a:t>There is not much difference before and after hyperparameter tuning.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111326" y="3716270"/>
            <a:ext cx="4176543" cy="6115234"/>
          </a:xfrm>
          <a:custGeom>
            <a:avLst/>
            <a:gdLst/>
            <a:ahLst/>
            <a:cxnLst/>
            <a:rect r="r" b="b" t="t" l="l"/>
            <a:pathLst>
              <a:path h="6115234" w="4176543">
                <a:moveTo>
                  <a:pt x="0" y="0"/>
                </a:moveTo>
                <a:lnTo>
                  <a:pt x="4176543" y="0"/>
                </a:lnTo>
                <a:lnTo>
                  <a:pt x="4176543" y="6115234"/>
                </a:lnTo>
                <a:lnTo>
                  <a:pt x="0" y="6115234"/>
                </a:lnTo>
                <a:lnTo>
                  <a:pt x="0" y="0"/>
                </a:lnTo>
                <a:close/>
              </a:path>
            </a:pathLst>
          </a:custGeom>
          <a:blipFill>
            <a:blip r:embed="rId4"/>
            <a:stretch>
              <a:fillRect l="-132109" t="-20987" r="-132900" b="-8644"/>
            </a:stretch>
          </a:blipFill>
        </p:spPr>
      </p:sp>
      <p:sp>
        <p:nvSpPr>
          <p:cNvPr name="Freeform 5" id="5"/>
          <p:cNvSpPr/>
          <p:nvPr/>
        </p:nvSpPr>
        <p:spPr>
          <a:xfrm flipH="false" flipV="false" rot="0">
            <a:off x="10300974" y="3716270"/>
            <a:ext cx="4209968" cy="6115234"/>
          </a:xfrm>
          <a:custGeom>
            <a:avLst/>
            <a:gdLst/>
            <a:ahLst/>
            <a:cxnLst/>
            <a:rect r="r" b="b" t="t" l="l"/>
            <a:pathLst>
              <a:path h="6115234" w="4209968">
                <a:moveTo>
                  <a:pt x="0" y="0"/>
                </a:moveTo>
                <a:lnTo>
                  <a:pt x="4209968" y="0"/>
                </a:lnTo>
                <a:lnTo>
                  <a:pt x="4209968" y="6115234"/>
                </a:lnTo>
                <a:lnTo>
                  <a:pt x="0" y="6115234"/>
                </a:lnTo>
                <a:lnTo>
                  <a:pt x="0" y="0"/>
                </a:lnTo>
                <a:close/>
              </a:path>
            </a:pathLst>
          </a:custGeom>
          <a:blipFill>
            <a:blip r:embed="rId5"/>
            <a:stretch>
              <a:fillRect l="-129502" t="-23159" r="-132642" b="-6483"/>
            </a:stretch>
          </a:blipFill>
        </p:spPr>
      </p:sp>
      <p:sp>
        <p:nvSpPr>
          <p:cNvPr name="TextBox 6" id="6"/>
          <p:cNvSpPr txBox="true"/>
          <p:nvPr/>
        </p:nvSpPr>
        <p:spPr>
          <a:xfrm rot="0">
            <a:off x="4653355" y="365125"/>
            <a:ext cx="8981290"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MODEL  DEPLOYMENT</a:t>
            </a:r>
          </a:p>
        </p:txBody>
      </p:sp>
      <p:sp>
        <p:nvSpPr>
          <p:cNvPr name="TextBox 7" id="7"/>
          <p:cNvSpPr txBox="true"/>
          <p:nvPr/>
        </p:nvSpPr>
        <p:spPr>
          <a:xfrm rot="0">
            <a:off x="2062791" y="1799365"/>
            <a:ext cx="14162417" cy="1600264"/>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0"/>
                </a:solidFill>
                <a:latin typeface="Arial"/>
                <a:ea typeface="Arial"/>
                <a:cs typeface="Arial"/>
                <a:sym typeface="Arial"/>
              </a:rPr>
              <a:t>After performing Hyperparameter tuning for the best model Support vector classifier saved the model, label encoder and  scaler as .pkl file using joblib.</a:t>
            </a:r>
          </a:p>
          <a:p>
            <a:pPr algn="just" marL="647700" indent="-323850" lvl="1">
              <a:lnSpc>
                <a:spcPts val="4200"/>
              </a:lnSpc>
              <a:buFont typeface="Arial"/>
              <a:buChar char="•"/>
            </a:pPr>
            <a:r>
              <a:rPr lang="en-US" sz="3000">
                <a:solidFill>
                  <a:srgbClr val="000000"/>
                </a:solidFill>
                <a:latin typeface="Arial"/>
                <a:ea typeface="Arial"/>
                <a:cs typeface="Arial"/>
                <a:sym typeface="Arial"/>
              </a:rPr>
              <a:t>Deployed app using </a:t>
            </a:r>
            <a:r>
              <a:rPr lang="en-US" b="true" sz="3000">
                <a:solidFill>
                  <a:srgbClr val="000000"/>
                </a:solidFill>
                <a:latin typeface="Arial Bold"/>
                <a:ea typeface="Arial Bold"/>
                <a:cs typeface="Arial Bold"/>
                <a:sym typeface="Arial Bold"/>
              </a:rPr>
              <a:t>Streamlit</a:t>
            </a:r>
            <a:r>
              <a:rPr lang="en-US" sz="3000">
                <a:solidFill>
                  <a:srgbClr val="000000"/>
                </a:solidFill>
                <a:latin typeface="Arial"/>
                <a:ea typeface="Arial"/>
                <a:cs typeface="Arial"/>
                <a:sym typeface="Arial"/>
              </a:rPr>
              <a:t> in</a:t>
            </a:r>
            <a:r>
              <a:rPr lang="en-US" b="true" sz="3000">
                <a:solidFill>
                  <a:srgbClr val="000000"/>
                </a:solidFill>
                <a:latin typeface="Arial Bold"/>
                <a:ea typeface="Arial Bold"/>
                <a:cs typeface="Arial Bold"/>
                <a:sym typeface="Arial Bold"/>
              </a:rPr>
              <a:t> PYCHARM.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4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4586" y="8477446"/>
            <a:ext cx="3777058" cy="3619109"/>
          </a:xfrm>
          <a:custGeom>
            <a:avLst/>
            <a:gdLst/>
            <a:ahLst/>
            <a:cxnLst/>
            <a:rect r="r" b="b" t="t" l="l"/>
            <a:pathLst>
              <a:path h="3619109" w="3777058">
                <a:moveTo>
                  <a:pt x="0" y="0"/>
                </a:moveTo>
                <a:lnTo>
                  <a:pt x="3777058" y="0"/>
                </a:lnTo>
                <a:lnTo>
                  <a:pt x="3777058" y="3619108"/>
                </a:lnTo>
                <a:lnTo>
                  <a:pt x="0" y="3619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10942" y="68326"/>
            <a:ext cx="3777058" cy="3619109"/>
          </a:xfrm>
          <a:custGeom>
            <a:avLst/>
            <a:gdLst/>
            <a:ahLst/>
            <a:cxnLst/>
            <a:rect r="r" b="b" t="t" l="l"/>
            <a:pathLst>
              <a:path h="3619109" w="3777058">
                <a:moveTo>
                  <a:pt x="0" y="0"/>
                </a:moveTo>
                <a:lnTo>
                  <a:pt x="3777058" y="0"/>
                </a:lnTo>
                <a:lnTo>
                  <a:pt x="3777058" y="3619109"/>
                </a:lnTo>
                <a:lnTo>
                  <a:pt x="0" y="36191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429087" y="365125"/>
            <a:ext cx="5429826" cy="1193800"/>
          </a:xfrm>
          <a:prstGeom prst="rect">
            <a:avLst/>
          </a:prstGeom>
        </p:spPr>
        <p:txBody>
          <a:bodyPr anchor="t" rtlCol="false" tIns="0" lIns="0" bIns="0" rIns="0">
            <a:spAutoFit/>
          </a:bodyPr>
          <a:lstStyle/>
          <a:p>
            <a:pPr algn="ctr">
              <a:lnSpc>
                <a:spcPts val="9799"/>
              </a:lnSpc>
              <a:spcBef>
                <a:spcPct val="0"/>
              </a:spcBef>
            </a:pPr>
            <a:r>
              <a:rPr lang="en-US" sz="6999">
                <a:solidFill>
                  <a:srgbClr val="424242"/>
                </a:solidFill>
                <a:latin typeface="Maragsa"/>
                <a:ea typeface="Maragsa"/>
                <a:cs typeface="Maragsa"/>
                <a:sym typeface="Maragsa"/>
              </a:rPr>
              <a:t>CONCLUSION</a:t>
            </a:r>
          </a:p>
        </p:txBody>
      </p:sp>
      <p:sp>
        <p:nvSpPr>
          <p:cNvPr name="TextBox 5" id="5"/>
          <p:cNvSpPr txBox="true"/>
          <p:nvPr/>
        </p:nvSpPr>
        <p:spPr>
          <a:xfrm rot="0">
            <a:off x="947077" y="1654175"/>
            <a:ext cx="16393847" cy="8001321"/>
          </a:xfrm>
          <a:prstGeom prst="rect">
            <a:avLst/>
          </a:prstGeom>
        </p:spPr>
        <p:txBody>
          <a:bodyPr anchor="t" rtlCol="false" tIns="0" lIns="0" bIns="0" rIns="0">
            <a:spAutoFit/>
          </a:bodyPr>
          <a:lstStyle/>
          <a:p>
            <a:pPr algn="just" marL="647700" indent="-323850" lvl="1">
              <a:lnSpc>
                <a:spcPts val="4200"/>
              </a:lnSpc>
              <a:buFont typeface="Arial"/>
              <a:buChar char="•"/>
            </a:pPr>
            <a:r>
              <a:rPr lang="en-US" b="true" sz="3000">
                <a:solidFill>
                  <a:srgbClr val="000000"/>
                </a:solidFill>
                <a:latin typeface="Arial Bold"/>
                <a:ea typeface="Arial Bold"/>
                <a:cs typeface="Arial Bold"/>
                <a:sym typeface="Arial Bold"/>
              </a:rPr>
              <a:t>Objective:</a:t>
            </a:r>
            <a:r>
              <a:rPr lang="en-US" sz="3000">
                <a:solidFill>
                  <a:srgbClr val="000000"/>
                </a:solidFill>
                <a:latin typeface="Arial"/>
                <a:ea typeface="Arial"/>
                <a:cs typeface="Arial"/>
                <a:sym typeface="Arial"/>
              </a:rPr>
              <a:t> Predict customer churn to identify at-risk customers and help the company take preventive actions to improve retention.</a:t>
            </a:r>
          </a:p>
          <a:p>
            <a:pPr algn="just" marL="647700" indent="-323850" lvl="1">
              <a:lnSpc>
                <a:spcPts val="4200"/>
              </a:lnSpc>
              <a:buFont typeface="Arial"/>
              <a:buChar char="•"/>
            </a:pPr>
            <a:r>
              <a:rPr lang="en-US" b="true" sz="3000">
                <a:solidFill>
                  <a:srgbClr val="000000"/>
                </a:solidFill>
                <a:latin typeface="Arial Bold"/>
                <a:ea typeface="Arial Bold"/>
                <a:cs typeface="Arial Bold"/>
                <a:sym typeface="Arial Bold"/>
              </a:rPr>
              <a:t>Dataset Overview:</a:t>
            </a:r>
            <a:r>
              <a:rPr lang="en-US" sz="3000">
                <a:solidFill>
                  <a:srgbClr val="000000"/>
                </a:solidFill>
                <a:latin typeface="Arial"/>
                <a:ea typeface="Arial"/>
                <a:cs typeface="Arial"/>
                <a:sym typeface="Arial"/>
              </a:rPr>
              <a:t> Included customer demographics, contract details, payment methods, tenure, and charges; 25–30% of customers were churners.</a:t>
            </a:r>
          </a:p>
          <a:p>
            <a:pPr algn="just" marL="647700" indent="-323850" lvl="1">
              <a:lnSpc>
                <a:spcPts val="4200"/>
              </a:lnSpc>
              <a:buFont typeface="Arial"/>
              <a:buChar char="•"/>
            </a:pPr>
            <a:r>
              <a:rPr lang="en-US" b="true" sz="3000">
                <a:solidFill>
                  <a:srgbClr val="000000"/>
                </a:solidFill>
                <a:latin typeface="Arial Bold"/>
                <a:ea typeface="Arial Bold"/>
                <a:cs typeface="Arial Bold"/>
                <a:sym typeface="Arial Bold"/>
              </a:rPr>
              <a:t>Churn Drivers:</a:t>
            </a:r>
            <a:r>
              <a:rPr lang="en-US" sz="3000">
                <a:solidFill>
                  <a:srgbClr val="000000"/>
                </a:solidFill>
                <a:latin typeface="Arial"/>
                <a:ea typeface="Arial"/>
                <a:cs typeface="Arial"/>
                <a:sym typeface="Arial"/>
              </a:rPr>
              <a:t> Short tenure, month-to-month contracts, high monthly charges, and electronic check payments increase churn risk.</a:t>
            </a:r>
          </a:p>
          <a:p>
            <a:pPr algn="just" marL="647700" indent="-323850" lvl="1">
              <a:lnSpc>
                <a:spcPts val="4200"/>
              </a:lnSpc>
              <a:buFont typeface="Arial"/>
              <a:buChar char="•"/>
            </a:pPr>
            <a:r>
              <a:rPr lang="en-US" b="true" sz="3000">
                <a:solidFill>
                  <a:srgbClr val="000000"/>
                </a:solidFill>
                <a:latin typeface="Arial Bold"/>
                <a:ea typeface="Arial Bold"/>
                <a:cs typeface="Arial Bold"/>
                <a:sym typeface="Arial Bold"/>
              </a:rPr>
              <a:t>Retention Indicators:</a:t>
            </a:r>
            <a:r>
              <a:rPr lang="en-US" sz="3000">
                <a:solidFill>
                  <a:srgbClr val="000000"/>
                </a:solidFill>
                <a:latin typeface="Arial"/>
                <a:ea typeface="Arial"/>
                <a:cs typeface="Arial"/>
                <a:sym typeface="Arial"/>
              </a:rPr>
              <a:t> Longer tenure, longer contracts, and automatic payments are linked to lower churn.</a:t>
            </a:r>
          </a:p>
          <a:p>
            <a:pPr algn="just" marL="647700" indent="-323850" lvl="1">
              <a:lnSpc>
                <a:spcPts val="4200"/>
              </a:lnSpc>
              <a:buFont typeface="Arial"/>
              <a:buChar char="•"/>
            </a:pPr>
            <a:r>
              <a:rPr lang="en-US" b="true" sz="3000">
                <a:solidFill>
                  <a:srgbClr val="000000"/>
                </a:solidFill>
                <a:latin typeface="Arial Bold"/>
                <a:ea typeface="Arial Bold"/>
                <a:cs typeface="Arial Bold"/>
                <a:sym typeface="Arial Bold"/>
              </a:rPr>
              <a:t>Model Performance:</a:t>
            </a:r>
            <a:r>
              <a:rPr lang="en-US" sz="3000">
                <a:solidFill>
                  <a:srgbClr val="000000"/>
                </a:solidFill>
                <a:latin typeface="Arial"/>
                <a:ea typeface="Arial"/>
                <a:cs typeface="Arial"/>
                <a:sym typeface="Arial"/>
              </a:rPr>
              <a:t> Tested Logistic Regression, SVM, KNN, Decision Tree, Random Forest, and XGBoost; Support Vector Classifier performed best with 80.09% accuracy.</a:t>
            </a:r>
          </a:p>
          <a:p>
            <a:pPr algn="just" marL="647700" indent="-323850" lvl="1">
              <a:lnSpc>
                <a:spcPts val="4200"/>
              </a:lnSpc>
              <a:buFont typeface="Arial"/>
              <a:buChar char="•"/>
            </a:pPr>
            <a:r>
              <a:rPr lang="en-US" b="true" sz="3000">
                <a:solidFill>
                  <a:srgbClr val="000000"/>
                </a:solidFill>
                <a:latin typeface="Arial Bold"/>
                <a:ea typeface="Arial Bold"/>
                <a:cs typeface="Arial Bold"/>
                <a:sym typeface="Arial Bold"/>
              </a:rPr>
              <a:t>Key Findings:</a:t>
            </a:r>
            <a:r>
              <a:rPr lang="en-US" sz="3000">
                <a:solidFill>
                  <a:srgbClr val="000000"/>
                </a:solidFill>
                <a:latin typeface="Arial"/>
                <a:ea typeface="Arial"/>
                <a:cs typeface="Arial"/>
                <a:sym typeface="Arial"/>
              </a:rPr>
              <a:t> Churn is mostly influenced by contract type, monthly charges, tenure, and payment method; loyal long-term customers are less likely to churn.</a:t>
            </a:r>
          </a:p>
          <a:p>
            <a:pPr algn="just" marL="647700" indent="-323850" lvl="1">
              <a:lnSpc>
                <a:spcPts val="4200"/>
              </a:lnSpc>
              <a:buFont typeface="Arial"/>
              <a:buChar char="•"/>
            </a:pPr>
            <a:r>
              <a:rPr lang="en-US" b="true" sz="3000">
                <a:solidFill>
                  <a:srgbClr val="000000"/>
                </a:solidFill>
                <a:latin typeface="Arial Bold"/>
                <a:ea typeface="Arial Bold"/>
                <a:cs typeface="Arial Bold"/>
                <a:sym typeface="Arial Bold"/>
              </a:rPr>
              <a:t>Conclusion &amp; Recommendations:</a:t>
            </a:r>
            <a:r>
              <a:rPr lang="en-US" sz="3000">
                <a:solidFill>
                  <a:srgbClr val="000000"/>
                </a:solidFill>
                <a:latin typeface="Arial"/>
                <a:ea typeface="Arial"/>
                <a:cs typeface="Arial"/>
                <a:sym typeface="Arial"/>
              </a:rPr>
              <a:t> SVM is the most effective predictor; insights suggest encouraging long-term contracts and monitoring high-risk customer segments for retention strategies.</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424242"/>
        </a:solidFill>
      </p:bgPr>
    </p:bg>
    <p:spTree>
      <p:nvGrpSpPr>
        <p:cNvPr id="1" name=""/>
        <p:cNvGrpSpPr/>
        <p:nvPr/>
      </p:nvGrpSpPr>
      <p:grpSpPr>
        <a:xfrm>
          <a:off x="0" y="0"/>
          <a:ext cx="0" cy="0"/>
          <a:chOff x="0" y="0"/>
          <a:chExt cx="0" cy="0"/>
        </a:xfrm>
      </p:grpSpPr>
      <p:sp>
        <p:nvSpPr>
          <p:cNvPr name="TextBox 2" id="2"/>
          <p:cNvSpPr txBox="true"/>
          <p:nvPr/>
        </p:nvSpPr>
        <p:spPr>
          <a:xfrm rot="0">
            <a:off x="3830038" y="3731333"/>
            <a:ext cx="10627924" cy="2571154"/>
          </a:xfrm>
          <a:prstGeom prst="rect">
            <a:avLst/>
          </a:prstGeom>
        </p:spPr>
        <p:txBody>
          <a:bodyPr anchor="t" rtlCol="false" tIns="0" lIns="0" bIns="0" rIns="0">
            <a:spAutoFit/>
          </a:bodyPr>
          <a:lstStyle/>
          <a:p>
            <a:pPr algn="ctr">
              <a:lnSpc>
                <a:spcPts val="21032"/>
              </a:lnSpc>
              <a:spcBef>
                <a:spcPct val="0"/>
              </a:spcBef>
            </a:pPr>
            <a:r>
              <a:rPr lang="en-US" sz="15023">
                <a:solidFill>
                  <a:srgbClr val="F8F4EB"/>
                </a:solidFill>
                <a:latin typeface="Maragsa"/>
                <a:ea typeface="Maragsa"/>
                <a:cs typeface="Maragsa"/>
                <a:sym typeface="Marags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DAG4eTo9tcY</dc:identifier>
  <dcterms:modified xsi:type="dcterms:W3CDTF">2011-08-01T06:04:30Z</dcterms:modified>
  <cp:revision>1</cp:revision>
  <dc:title>Cream and Beige Simple Clean Project Overview Presentation</dc:title>
</cp:coreProperties>
</file>